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d0e2302bf744e9" /><Relationship Type="http://schemas.openxmlformats.org/officeDocument/2006/relationships/extended-properties" Target="/docProps/app.xml" Id="R93c6f038196e4c1f" /><Relationship Type="http://schemas.openxmlformats.org/officeDocument/2006/relationships/officeDocument" Target="/ppt/presentation.xml" Id="R0656d2b1a827482f" /></Relationships>
</file>

<file path=ppt/presentation.xml><?xml version="1.0" encoding="utf-8"?>
<p:presentation xmlns:p="http://schemas.openxmlformats.org/presentationml/2006/main">
  <p:sldMasterIdLst>
    <p:sldMasterId xmlns:r="http://schemas.openxmlformats.org/officeDocument/2006/relationships" id="2147483648" r:id="Rbaaf94cb73f7444a"/>
  </p:sldMasterIdLst>
  <p:notesMasterIdLst>
    <p:notesMasterId xmlns:r="http://schemas.openxmlformats.org/officeDocument/2006/relationships" r:id="Re2bd5ae115694a14"/>
  </p:notesMasterIdLst>
  <p:sldIdLst>
    <p:sldId xmlns:r="http://schemas.openxmlformats.org/officeDocument/2006/relationships" id="256" r:id="R7ab717a3a0814633"/>
    <p:sldId xmlns:r="http://schemas.openxmlformats.org/officeDocument/2006/relationships" id="257" r:id="Rb7c73339f71948e7"/>
    <p:sldId xmlns:r="http://schemas.openxmlformats.org/officeDocument/2006/relationships" id="258" r:id="R17c45ecdc02c40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a70bd481db464e" /><Relationship Type="http://schemas.openxmlformats.org/officeDocument/2006/relationships/slideMaster" Target="/ppt/slideMasters/slideMaster1.xml" Id="Rbaaf94cb73f7444a" /><Relationship Type="http://schemas.openxmlformats.org/officeDocument/2006/relationships/notesMaster" Target="/ppt/notesMasters/notesMaster1.xml" Id="Re2bd5ae115694a14" /><Relationship Type="http://schemas.openxmlformats.org/officeDocument/2006/relationships/presProps" Target="/ppt/presProps.xml" Id="R6a835dad6a544ea5" /><Relationship Type="http://schemas.openxmlformats.org/officeDocument/2006/relationships/tableStyles" Target="/ppt/tableStyles.xml" Id="R1cf1c4fe909948f7" /><Relationship Type="http://schemas.openxmlformats.org/officeDocument/2006/relationships/slide" Target="/ppt/slides/slide1.xml" Id="R7ab717a3a0814633" /><Relationship Type="http://schemas.openxmlformats.org/officeDocument/2006/relationships/slide" Target="/ppt/slides/slide2.xml" Id="Rb7c73339f71948e7" /><Relationship Type="http://schemas.openxmlformats.org/officeDocument/2006/relationships/slide" Target="/ppt/slides/slide3.xml" Id="R17c45ecdc02c40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7001d969241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9efc9e456e4e78" /><Relationship Type="http://schemas.openxmlformats.org/officeDocument/2006/relationships/notesMaster" Target="/ppt/notesMasters/notesMaster1.xml" Id="Rf3d1d52829ce4d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70bad8697e4627" /><Relationship Type="http://schemas.openxmlformats.org/officeDocument/2006/relationships/notesMaster" Target="/ppt/notesMasters/notesMaster1.xml" Id="R59d3d779bd4b41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72d16b73714f87" /><Relationship Type="http://schemas.openxmlformats.org/officeDocument/2006/relationships/notesMaster" Target="/ppt/notesMasters/notesMaster1.xml" Id="R37df32cf827041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Self-initiated presentation design study by Hx Works. All suppliers, quantities, costs and assumptions are fictional. No customer, sourcing engagement or financial result is represented. This three-slide excerpt demonstrates information hierarchy, an editable cost comparison and a conditional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inputs in USD: A goods4200+freight700+duty252+rework420=5572; B4450+420+267+215=5352. Difference220. Goods quote alone favorsA by250. A expected rework420 equals10% of goods for this invented scenario, B215 is a standalone illustrative allowance. No empirical defect-rate claim, tax advice or actual supplier evaluation. Editable native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Conditional decision only. At an additional220USD cost B tiesA; above220 it loses the cost advantage if all other assumptions stay fixed. This scenario deliberately excludes real supplier identities and client materials. The deck makes no investment, quality or fulfillment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c0c26d1ef742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b4025b51d440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b4dedc12494a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a78373e17841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8adfc467ec45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b5c98835a541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CDFEB2-5737-423D-B269-9785847D56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02A8F3-9296-4976-9CE9-CBEDFEC68E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471E5C-7543-482A-BCA0-01954253B8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E1BC7D-64A4-495E-B7C6-7333A1B8E3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082AEE-FAE6-4E11-8877-7972B997DE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B7F9DE-8E94-44F9-A465-C2062B89DA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085D8E-6EA0-4676-B5AF-591315F766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6412F1-C2BB-4E48-9681-351C1E2FE9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8675DB-A452-4EB7-89A5-6B21FAFB54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69C404-B06D-4CDD-844A-E474D5644C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d1c1c8d7a74af9" /><Relationship Type="http://schemas.openxmlformats.org/officeDocument/2006/relationships/slideLayout" Target="/ppt/slideLayouts/slideLayout1.xml" Id="R770fab0e74cd48e8" /><Relationship Type="http://schemas.openxmlformats.org/officeDocument/2006/relationships/slideLayout" Target="/ppt/slideLayouts/slideLayout2.xml" Id="R290ea5f54ce84cb0" /><Relationship Type="http://schemas.openxmlformats.org/officeDocument/2006/relationships/slideLayout" Target="/ppt/slideLayouts/slideLayout3.xml" Id="Rc21eefe8e43c4a85" /><Relationship Type="http://schemas.openxmlformats.org/officeDocument/2006/relationships/slideLayout" Target="/ppt/slideLayouts/slideLayout4.xml" Id="Rf7b8d10e749a406f" /><Relationship Type="http://schemas.openxmlformats.org/officeDocument/2006/relationships/slideLayout" Target="/ppt/slideLayouts/slideLayout5.xml" Id="Rf522b70c64364383" /><Relationship Type="http://schemas.openxmlformats.org/officeDocument/2006/relationships/slideLayout" Target="/ppt/slideLayouts/slideLayout6.xml" Id="R10eb16b86a004f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0fab0e74cd48e8"/>
    <p:sldLayoutId xmlns:r="http://schemas.openxmlformats.org/officeDocument/2006/relationships" id="2147483650" r:id="R290ea5f54ce84cb0"/>
    <p:sldLayoutId xmlns:r="http://schemas.openxmlformats.org/officeDocument/2006/relationships" id="2147483651" r:id="Rc21eefe8e43c4a85"/>
    <p:sldLayoutId xmlns:r="http://schemas.openxmlformats.org/officeDocument/2006/relationships" id="2147483652" r:id="Rf7b8d10e749a406f"/>
    <p:sldLayoutId xmlns:r="http://schemas.openxmlformats.org/officeDocument/2006/relationships" id="2147483653" r:id="Rf522b70c64364383"/>
    <p:sldLayoutId xmlns:r="http://schemas.openxmlformats.org/officeDocument/2006/relationships" id="2147483654" r:id="R10eb16b86a004f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ba88f5460e4018" /><Relationship Type="http://schemas.openxmlformats.org/officeDocument/2006/relationships/notesSlide" Target="/ppt/notesSlides/notesSlide1.xml" Id="R643a79bd10f248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777151d2204c2e" /><Relationship Type="http://schemas.openxmlformats.org/officeDocument/2006/relationships/notesSlide" Target="/ppt/notesSlides/notesSlide2.xml" Id="Rdcea5e4343f444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7ed435279d4035" /><Relationship Type="http://schemas.openxmlformats.org/officeDocument/2006/relationships/notesSlide" Target="/ppt/notesSlides/notesSlide3.xml" Id="Rb7ea38d20ac94436"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context">
            <a:extLst xmlns:a="http://schemas.openxmlformats.org/drawingml/2006/main">
              <a:ext uri="{FF2B5EF4-FFF2-40B4-BE49-F238E27FC236}">
                <a16:creationId xmlns:a16="http://schemas.microsoft.com/office/drawing/2014/main" id="{A6FCA58D-F2D6-4766-9CE1-D73FEF22AE44}"/>
              </a:ext>
            </a:extLst>
          </p:cNvPr>
          <p:cNvSpPr>
            <a:spLocks xmlns:a="http://schemas.openxmlformats.org/drawingml/2006/main" noGrp="1"/>
          </p:cNvSpPr>
          <p:nvPr/>
        </p:nvSpPr>
        <p:spPr>
          <a:xfrm xmlns:a="http://schemas.openxmlformats.org/drawingml/2006/main">
            <a:off x="609600" y="5524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49636F"/>
                </a:solidFill>
                <a:latin typeface="Arial"/>
                <a:ea typeface="Arial"/>
                <a:cs typeface="Arial"/>
              </a:defRPr>
            </a:defPPr>
            <a:lvl1pPr>
              <a:defRPr sz="1575" b="1">
                <a:solidFill>
                  <a:srgbClr val="49636F"/>
                </a:solidFill>
                <a:latin typeface="Arial"/>
                <a:ea typeface="Arial"/>
                <a:cs typeface="Arial"/>
              </a:defRPr>
            </a:lvl1pPr>
            <a:lvl2pPr>
              <a:defRPr sz="1575" b="1">
                <a:solidFill>
                  <a:srgbClr val="49636F"/>
                </a:solidFill>
                <a:latin typeface="Arial"/>
                <a:ea typeface="Arial"/>
                <a:cs typeface="Arial"/>
              </a:defRPr>
            </a:lvl2pPr>
            <a:lvl3pPr>
              <a:defRPr sz="1575" b="1">
                <a:solidFill>
                  <a:srgbClr val="49636F"/>
                </a:solidFill>
                <a:latin typeface="Arial"/>
                <a:ea typeface="Arial"/>
                <a:cs typeface="Arial"/>
              </a:defRPr>
            </a:lvl3pPr>
            <a:lvl4pPr>
              <a:defRPr sz="1575" b="1">
                <a:solidFill>
                  <a:srgbClr val="49636F"/>
                </a:solidFill>
                <a:latin typeface="Arial"/>
                <a:ea typeface="Arial"/>
                <a:cs typeface="Arial"/>
              </a:defRPr>
            </a:lvl4pPr>
            <a:lvl5pPr>
              <a:defRPr sz="1575" b="1">
                <a:solidFill>
                  <a:srgbClr val="49636F"/>
                </a:solidFill>
                <a:latin typeface="Arial"/>
                <a:ea typeface="Arial"/>
                <a:cs typeface="Arial"/>
              </a:defRPr>
            </a:lvl5pPr>
            <a:lvl6pPr>
              <a:defRPr sz="1575" b="1">
                <a:solidFill>
                  <a:srgbClr val="49636F"/>
                </a:solidFill>
                <a:latin typeface="Arial"/>
                <a:ea typeface="Arial"/>
                <a:cs typeface="Arial"/>
              </a:defRPr>
            </a:lvl6pPr>
            <a:lvl7pPr>
              <a:defRPr sz="1575" b="1">
                <a:solidFill>
                  <a:srgbClr val="49636F"/>
                </a:solidFill>
                <a:latin typeface="Arial"/>
                <a:ea typeface="Arial"/>
                <a:cs typeface="Arial"/>
              </a:defRPr>
            </a:lvl7pPr>
            <a:lvl8pPr>
              <a:defRPr sz="1575" b="1">
                <a:solidFill>
                  <a:srgbClr val="49636F"/>
                </a:solidFill>
                <a:latin typeface="Arial"/>
                <a:ea typeface="Arial"/>
                <a:cs typeface="Arial"/>
              </a:defRPr>
            </a:lvl8pPr>
            <a:lvl9pPr>
              <a:defRPr sz="1575" b="1">
                <a:solidFill>
                  <a:srgbClr val="49636F"/>
                </a:solidFill>
                <a:latin typeface="Arial"/>
                <a:ea typeface="Arial"/>
                <a:cs typeface="Arial"/>
              </a:defRPr>
            </a:lvl9pPr>
          </a:lstStyle>
          <a:p xmlns:a="http://schemas.openxmlformats.org/drawingml/2006/main">
            <a:pPr>
              <a:defRPr sz="1575" b="1">
                <a:solidFill>
                  <a:srgbClr val="49636F"/>
                </a:solidFill>
                <a:latin typeface="Arial"/>
                <a:ea typeface="Arial"/>
                <a:cs typeface="Arial"/>
              </a:defRPr>
            </a:pPr>
            <a:r>
              <a:rPr sz="1575" b="1">
                <a:solidFill>
                  <a:srgbClr val="49636F"/>
                </a:solidFill>
                <a:latin typeface="Arial"/>
                <a:ea typeface="Arial"/>
                <a:cs typeface="Arial"/>
              </a:rPr>
              <a:t>PROCUREMENT DECISION</a:t>
            </a:r>
          </a:p>
        </p:txBody>
      </p:sp>
      <p:sp>
        <p:nvSpPr>
          <p:cNvPr id="2" name="title">
            <a:extLst xmlns:a="http://schemas.openxmlformats.org/drawingml/2006/main">
              <a:ext uri="{FF2B5EF4-FFF2-40B4-BE49-F238E27FC236}">
                <a16:creationId xmlns:a16="http://schemas.microsoft.com/office/drawing/2014/main" id="{01633AEE-B333-4FAC-B8FC-86C29BCB27FC}"/>
              </a:ext>
            </a:extLst>
          </p:cNvPr>
          <p:cNvSpPr>
            <a:spLocks xmlns:a="http://schemas.openxmlformats.org/drawingml/2006/main" noGrp="1"/>
          </p:cNvSpPr>
          <p:nvPr/>
        </p:nvSpPr>
        <p:spPr>
          <a:xfrm xmlns:a="http://schemas.openxmlformats.org/drawingml/2006/main">
            <a:off x="609600" y="139065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2F3B"/>
                </a:solidFill>
                <a:latin typeface="Arial"/>
                <a:ea typeface="Arial"/>
                <a:cs typeface="Arial"/>
              </a:defRPr>
            </a:defPPr>
            <a:lvl1pPr>
              <a:defRPr sz="4500" b="1">
                <a:solidFill>
                  <a:srgbClr val="172F3B"/>
                </a:solidFill>
                <a:latin typeface="Arial"/>
                <a:ea typeface="Arial"/>
                <a:cs typeface="Arial"/>
              </a:defRPr>
            </a:lvl1pPr>
            <a:lvl2pPr>
              <a:defRPr sz="4500" b="1">
                <a:solidFill>
                  <a:srgbClr val="172F3B"/>
                </a:solidFill>
                <a:latin typeface="Arial"/>
                <a:ea typeface="Arial"/>
                <a:cs typeface="Arial"/>
              </a:defRPr>
            </a:lvl2pPr>
            <a:lvl3pPr>
              <a:defRPr sz="4500" b="1">
                <a:solidFill>
                  <a:srgbClr val="172F3B"/>
                </a:solidFill>
                <a:latin typeface="Arial"/>
                <a:ea typeface="Arial"/>
                <a:cs typeface="Arial"/>
              </a:defRPr>
            </a:lvl3pPr>
            <a:lvl4pPr>
              <a:defRPr sz="4500" b="1">
                <a:solidFill>
                  <a:srgbClr val="172F3B"/>
                </a:solidFill>
                <a:latin typeface="Arial"/>
                <a:ea typeface="Arial"/>
                <a:cs typeface="Arial"/>
              </a:defRPr>
            </a:lvl4pPr>
            <a:lvl5pPr>
              <a:defRPr sz="4500" b="1">
                <a:solidFill>
                  <a:srgbClr val="172F3B"/>
                </a:solidFill>
                <a:latin typeface="Arial"/>
                <a:ea typeface="Arial"/>
                <a:cs typeface="Arial"/>
              </a:defRPr>
            </a:lvl5pPr>
            <a:lvl6pPr>
              <a:defRPr sz="4500" b="1">
                <a:solidFill>
                  <a:srgbClr val="172F3B"/>
                </a:solidFill>
                <a:latin typeface="Arial"/>
                <a:ea typeface="Arial"/>
                <a:cs typeface="Arial"/>
              </a:defRPr>
            </a:lvl6pPr>
            <a:lvl7pPr>
              <a:defRPr sz="4500" b="1">
                <a:solidFill>
                  <a:srgbClr val="172F3B"/>
                </a:solidFill>
                <a:latin typeface="Arial"/>
                <a:ea typeface="Arial"/>
                <a:cs typeface="Arial"/>
              </a:defRPr>
            </a:lvl7pPr>
            <a:lvl8pPr>
              <a:defRPr sz="4500" b="1">
                <a:solidFill>
                  <a:srgbClr val="172F3B"/>
                </a:solidFill>
                <a:latin typeface="Arial"/>
                <a:ea typeface="Arial"/>
                <a:cs typeface="Arial"/>
              </a:defRPr>
            </a:lvl8pPr>
            <a:lvl9pPr>
              <a:defRPr sz="4500" b="1">
                <a:solidFill>
                  <a:srgbClr val="172F3B"/>
                </a:solidFill>
                <a:latin typeface="Arial"/>
                <a:ea typeface="Arial"/>
                <a:cs typeface="Arial"/>
              </a:defRPr>
            </a:lvl9pPr>
          </a:lstStyle>
          <a:p xmlns:a="http://schemas.openxmlformats.org/drawingml/2006/main">
            <a:pPr>
              <a:defRPr sz="4500" b="1">
                <a:solidFill>
                  <a:srgbClr val="172F3B"/>
                </a:solidFill>
                <a:latin typeface="Arial"/>
                <a:ea typeface="Arial"/>
                <a:cs typeface="Arial"/>
              </a:defRPr>
            </a:pPr>
            <a:r>
              <a:rPr sz="4500" b="1">
                <a:solidFill>
                  <a:srgbClr val="172F3B"/>
                </a:solidFill>
                <a:latin typeface="Arial"/>
                <a:ea typeface="Arial"/>
                <a:cs typeface="Arial"/>
              </a:rPr>
              <a:t>The lowest quote is not</a:t>
            </a:r>
          </a:p>
          <a:p xmlns:a="http://schemas.openxmlformats.org/drawingml/2006/main">
            <a:pPr>
              <a:defRPr sz="4500" b="1">
                <a:solidFill>
                  <a:srgbClr val="172F3B"/>
                </a:solidFill>
                <a:latin typeface="Arial"/>
                <a:ea typeface="Arial"/>
                <a:cs typeface="Arial"/>
              </a:defRPr>
            </a:pPr>
            <a:r>
              <a:rPr sz="4500" b="1">
                <a:solidFill>
                  <a:srgbClr val="172F3B"/>
                </a:solidFill>
                <a:latin typeface="Arial"/>
                <a:ea typeface="Arial"/>
                <a:cs typeface="Arial"/>
              </a:rPr>
              <a:t>the lowest landed cost.</a:t>
            </a:r>
          </a:p>
        </p:txBody>
      </p:sp>
      <p:sp>
        <p:nvSpPr>
          <p:cNvPr id="3" name="subtitle">
            <a:extLst xmlns:a="http://schemas.openxmlformats.org/drawingml/2006/main">
              <a:ext uri="{FF2B5EF4-FFF2-40B4-BE49-F238E27FC236}">
                <a16:creationId xmlns:a16="http://schemas.microsoft.com/office/drawing/2014/main" id="{4D5D19E2-BB96-48C8-9C3A-7C1891909231}"/>
              </a:ext>
            </a:extLst>
          </p:cNvPr>
          <p:cNvSpPr>
            <a:spLocks xmlns:a="http://schemas.openxmlformats.org/drawingml/2006/main" noGrp="1"/>
          </p:cNvSpPr>
          <p:nvPr/>
        </p:nvSpPr>
        <p:spPr>
          <a:xfrm xmlns:a="http://schemas.openxmlformats.org/drawingml/2006/main">
            <a:off x="647700" y="3371850"/>
            <a:ext cx="1019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F3B"/>
                </a:solidFill>
                <a:latin typeface="Arial"/>
                <a:ea typeface="Arial"/>
                <a:cs typeface="Arial"/>
              </a:defRPr>
            </a:defPPr>
            <a:lvl1pPr>
              <a:defRPr sz="2250" b="0">
                <a:solidFill>
                  <a:srgbClr val="172F3B"/>
                </a:solidFill>
                <a:latin typeface="Arial"/>
                <a:ea typeface="Arial"/>
                <a:cs typeface="Arial"/>
              </a:defRPr>
            </a:lvl1pPr>
            <a:lvl2pPr>
              <a:defRPr sz="2250" b="0">
                <a:solidFill>
                  <a:srgbClr val="172F3B"/>
                </a:solidFill>
                <a:latin typeface="Arial"/>
                <a:ea typeface="Arial"/>
                <a:cs typeface="Arial"/>
              </a:defRPr>
            </a:lvl2pPr>
            <a:lvl3pPr>
              <a:defRPr sz="2250" b="0">
                <a:solidFill>
                  <a:srgbClr val="172F3B"/>
                </a:solidFill>
                <a:latin typeface="Arial"/>
                <a:ea typeface="Arial"/>
                <a:cs typeface="Arial"/>
              </a:defRPr>
            </a:lvl3pPr>
            <a:lvl4pPr>
              <a:defRPr sz="2250" b="0">
                <a:solidFill>
                  <a:srgbClr val="172F3B"/>
                </a:solidFill>
                <a:latin typeface="Arial"/>
                <a:ea typeface="Arial"/>
                <a:cs typeface="Arial"/>
              </a:defRPr>
            </a:lvl4pPr>
            <a:lvl5pPr>
              <a:defRPr sz="2250" b="0">
                <a:solidFill>
                  <a:srgbClr val="172F3B"/>
                </a:solidFill>
                <a:latin typeface="Arial"/>
                <a:ea typeface="Arial"/>
                <a:cs typeface="Arial"/>
              </a:defRPr>
            </a:lvl5pPr>
            <a:lvl6pPr>
              <a:defRPr sz="2250" b="0">
                <a:solidFill>
                  <a:srgbClr val="172F3B"/>
                </a:solidFill>
                <a:latin typeface="Arial"/>
                <a:ea typeface="Arial"/>
                <a:cs typeface="Arial"/>
              </a:defRPr>
            </a:lvl6pPr>
            <a:lvl7pPr>
              <a:defRPr sz="2250" b="0">
                <a:solidFill>
                  <a:srgbClr val="172F3B"/>
                </a:solidFill>
                <a:latin typeface="Arial"/>
                <a:ea typeface="Arial"/>
                <a:cs typeface="Arial"/>
              </a:defRPr>
            </a:lvl7pPr>
            <a:lvl8pPr>
              <a:defRPr sz="2250" b="0">
                <a:solidFill>
                  <a:srgbClr val="172F3B"/>
                </a:solidFill>
                <a:latin typeface="Arial"/>
                <a:ea typeface="Arial"/>
                <a:cs typeface="Arial"/>
              </a:defRPr>
            </a:lvl8pPr>
            <a:lvl9pPr>
              <a:defRPr sz="2250" b="0">
                <a:solidFill>
                  <a:srgbClr val="172F3B"/>
                </a:solidFill>
                <a:latin typeface="Arial"/>
                <a:ea typeface="Arial"/>
                <a:cs typeface="Arial"/>
              </a:defRPr>
            </a:lvl9pPr>
          </a:lstStyle>
          <a:p xmlns:a="http://schemas.openxmlformats.org/drawingml/2006/main">
            <a:pPr>
              <a:defRPr sz="2250" b="0">
                <a:solidFill>
                  <a:srgbClr val="172F3B"/>
                </a:solidFill>
                <a:latin typeface="Arial"/>
                <a:ea typeface="Arial"/>
                <a:cs typeface="Arial"/>
              </a:defRPr>
            </a:pPr>
            <a:r>
              <a:rPr sz="2250" b="0">
                <a:solidFill>
                  <a:srgbClr val="172F3B"/>
                </a:solidFill>
                <a:latin typeface="Arial"/>
                <a:ea typeface="Arial"/>
                <a:cs typeface="Arial"/>
              </a:rPr>
              <a:t>A fictional 1,000-unit order compares two suppliers</a:t>
            </a:r>
          </a:p>
          <a:p xmlns:a="http://schemas.openxmlformats.org/drawingml/2006/main">
            <a:pPr>
              <a:defRPr sz="2250" b="0">
                <a:solidFill>
                  <a:srgbClr val="172F3B"/>
                </a:solidFill>
                <a:latin typeface="Arial"/>
                <a:ea typeface="Arial"/>
                <a:cs typeface="Arial"/>
              </a:defRPr>
            </a:pPr>
            <a:r>
              <a:rPr sz="2250" b="0">
                <a:solidFill>
                  <a:srgbClr val="172F3B"/>
                </a:solidFill>
                <a:latin typeface="Arial"/>
                <a:ea typeface="Arial"/>
                <a:cs typeface="Arial"/>
              </a:rPr>
              <a:t>after freight, duty and expected rework.</a:t>
            </a:r>
          </a:p>
        </p:txBody>
      </p:sp>
      <p:sp>
        <p:nvSpPr>
          <p:cNvPr id="4" name="takeaway">
            <a:extLst xmlns:a="http://schemas.openxmlformats.org/drawingml/2006/main">
              <a:ext uri="{FF2B5EF4-FFF2-40B4-BE49-F238E27FC236}">
                <a16:creationId xmlns:a16="http://schemas.microsoft.com/office/drawing/2014/main" id="{1C859524-55B3-4E70-A5A6-C8E7B2BEE8A4}"/>
              </a:ext>
            </a:extLst>
          </p:cNvPr>
          <p:cNvSpPr>
            <a:spLocks xmlns:a="http://schemas.openxmlformats.org/drawingml/2006/main" noGrp="1"/>
          </p:cNvSpPr>
          <p:nvPr/>
        </p:nvSpPr>
        <p:spPr>
          <a:xfrm xmlns:a="http://schemas.openxmlformats.org/drawingml/2006/main">
            <a:off x="647700" y="48577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34029"/>
                </a:solidFill>
                <a:latin typeface="Arial"/>
                <a:ea typeface="Arial"/>
                <a:cs typeface="Arial"/>
              </a:defRPr>
            </a:defPPr>
            <a:lvl1pPr>
              <a:defRPr sz="2550" b="1">
                <a:solidFill>
                  <a:srgbClr val="B34029"/>
                </a:solidFill>
                <a:latin typeface="Arial"/>
                <a:ea typeface="Arial"/>
                <a:cs typeface="Arial"/>
              </a:defRPr>
            </a:lvl1pPr>
            <a:lvl2pPr>
              <a:defRPr sz="2550" b="1">
                <a:solidFill>
                  <a:srgbClr val="B34029"/>
                </a:solidFill>
                <a:latin typeface="Arial"/>
                <a:ea typeface="Arial"/>
                <a:cs typeface="Arial"/>
              </a:defRPr>
            </a:lvl2pPr>
            <a:lvl3pPr>
              <a:defRPr sz="2550" b="1">
                <a:solidFill>
                  <a:srgbClr val="B34029"/>
                </a:solidFill>
                <a:latin typeface="Arial"/>
                <a:ea typeface="Arial"/>
                <a:cs typeface="Arial"/>
              </a:defRPr>
            </a:lvl3pPr>
            <a:lvl4pPr>
              <a:defRPr sz="2550" b="1">
                <a:solidFill>
                  <a:srgbClr val="B34029"/>
                </a:solidFill>
                <a:latin typeface="Arial"/>
                <a:ea typeface="Arial"/>
                <a:cs typeface="Arial"/>
              </a:defRPr>
            </a:lvl4pPr>
            <a:lvl5pPr>
              <a:defRPr sz="2550" b="1">
                <a:solidFill>
                  <a:srgbClr val="B34029"/>
                </a:solidFill>
                <a:latin typeface="Arial"/>
                <a:ea typeface="Arial"/>
                <a:cs typeface="Arial"/>
              </a:defRPr>
            </a:lvl5pPr>
            <a:lvl6pPr>
              <a:defRPr sz="2550" b="1">
                <a:solidFill>
                  <a:srgbClr val="B34029"/>
                </a:solidFill>
                <a:latin typeface="Arial"/>
                <a:ea typeface="Arial"/>
                <a:cs typeface="Arial"/>
              </a:defRPr>
            </a:lvl6pPr>
            <a:lvl7pPr>
              <a:defRPr sz="2550" b="1">
                <a:solidFill>
                  <a:srgbClr val="B34029"/>
                </a:solidFill>
                <a:latin typeface="Arial"/>
                <a:ea typeface="Arial"/>
                <a:cs typeface="Arial"/>
              </a:defRPr>
            </a:lvl7pPr>
            <a:lvl8pPr>
              <a:defRPr sz="2550" b="1">
                <a:solidFill>
                  <a:srgbClr val="B34029"/>
                </a:solidFill>
                <a:latin typeface="Arial"/>
                <a:ea typeface="Arial"/>
                <a:cs typeface="Arial"/>
              </a:defRPr>
            </a:lvl8pPr>
            <a:lvl9pPr>
              <a:defRPr sz="2550" b="1">
                <a:solidFill>
                  <a:srgbClr val="B34029"/>
                </a:solidFill>
                <a:latin typeface="Arial"/>
                <a:ea typeface="Arial"/>
                <a:cs typeface="Arial"/>
              </a:defRPr>
            </a:lvl9pPr>
          </a:lstStyle>
          <a:p xmlns:a="http://schemas.openxmlformats.org/drawingml/2006/main">
            <a:pPr>
              <a:defRPr sz="2550" b="1">
                <a:solidFill>
                  <a:srgbClr val="B34029"/>
                </a:solidFill>
                <a:latin typeface="Arial"/>
                <a:ea typeface="Arial"/>
                <a:cs typeface="Arial"/>
              </a:defRPr>
            </a:pPr>
            <a:r>
              <a:rPr sz="2550" b="1">
                <a:solidFill>
                  <a:srgbClr val="B34029"/>
                </a:solidFill>
                <a:latin typeface="Arial"/>
                <a:ea typeface="Arial"/>
                <a:cs typeface="Arial"/>
              </a:rPr>
              <a:t>Supplier B costs $220 less in this scenario.</a:t>
            </a:r>
          </a:p>
        </p:txBody>
      </p:sp>
      <p:sp>
        <p:nvSpPr>
          <p:cNvPr id="5" name="disclosure">
            <a:extLst xmlns:a="http://schemas.openxmlformats.org/drawingml/2006/main">
              <a:ext uri="{FF2B5EF4-FFF2-40B4-BE49-F238E27FC236}">
                <a16:creationId xmlns:a16="http://schemas.microsoft.com/office/drawing/2014/main" id="{53347E5F-9FE3-4398-9206-EADD3DBD6A6C}"/>
              </a:ext>
            </a:extLst>
          </p:cNvPr>
          <p:cNvSpPr>
            <a:spLocks xmlns:a="http://schemas.openxmlformats.org/drawingml/2006/main" noGrp="1"/>
          </p:cNvSpPr>
          <p:nvPr/>
        </p:nvSpPr>
        <p:spPr>
          <a:xfrm xmlns:a="http://schemas.openxmlformats.org/drawingml/2006/main">
            <a:off x="609600" y="62865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9636F"/>
                </a:solidFill>
                <a:latin typeface="Arial"/>
                <a:ea typeface="Arial"/>
                <a:cs typeface="Arial"/>
              </a:defRPr>
            </a:defPPr>
            <a:lvl1pPr>
              <a:defRPr sz="1275" b="0">
                <a:solidFill>
                  <a:srgbClr val="49636F"/>
                </a:solidFill>
                <a:latin typeface="Arial"/>
                <a:ea typeface="Arial"/>
                <a:cs typeface="Arial"/>
              </a:defRPr>
            </a:lvl1pPr>
            <a:lvl2pPr>
              <a:defRPr sz="1275" b="0">
                <a:solidFill>
                  <a:srgbClr val="49636F"/>
                </a:solidFill>
                <a:latin typeface="Arial"/>
                <a:ea typeface="Arial"/>
                <a:cs typeface="Arial"/>
              </a:defRPr>
            </a:lvl2pPr>
            <a:lvl3pPr>
              <a:defRPr sz="1275" b="0">
                <a:solidFill>
                  <a:srgbClr val="49636F"/>
                </a:solidFill>
                <a:latin typeface="Arial"/>
                <a:ea typeface="Arial"/>
                <a:cs typeface="Arial"/>
              </a:defRPr>
            </a:lvl3pPr>
            <a:lvl4pPr>
              <a:defRPr sz="1275" b="0">
                <a:solidFill>
                  <a:srgbClr val="49636F"/>
                </a:solidFill>
                <a:latin typeface="Arial"/>
                <a:ea typeface="Arial"/>
                <a:cs typeface="Arial"/>
              </a:defRPr>
            </a:lvl4pPr>
            <a:lvl5pPr>
              <a:defRPr sz="1275" b="0">
                <a:solidFill>
                  <a:srgbClr val="49636F"/>
                </a:solidFill>
                <a:latin typeface="Arial"/>
                <a:ea typeface="Arial"/>
                <a:cs typeface="Arial"/>
              </a:defRPr>
            </a:lvl5pPr>
            <a:lvl6pPr>
              <a:defRPr sz="1275" b="0">
                <a:solidFill>
                  <a:srgbClr val="49636F"/>
                </a:solidFill>
                <a:latin typeface="Arial"/>
                <a:ea typeface="Arial"/>
                <a:cs typeface="Arial"/>
              </a:defRPr>
            </a:lvl6pPr>
            <a:lvl7pPr>
              <a:defRPr sz="1275" b="0">
                <a:solidFill>
                  <a:srgbClr val="49636F"/>
                </a:solidFill>
                <a:latin typeface="Arial"/>
                <a:ea typeface="Arial"/>
                <a:cs typeface="Arial"/>
              </a:defRPr>
            </a:lvl7pPr>
            <a:lvl8pPr>
              <a:defRPr sz="1275" b="0">
                <a:solidFill>
                  <a:srgbClr val="49636F"/>
                </a:solidFill>
                <a:latin typeface="Arial"/>
                <a:ea typeface="Arial"/>
                <a:cs typeface="Arial"/>
              </a:defRPr>
            </a:lvl8pPr>
            <a:lvl9pPr>
              <a:defRPr sz="1275" b="0">
                <a:solidFill>
                  <a:srgbClr val="49636F"/>
                </a:solidFill>
                <a:latin typeface="Arial"/>
                <a:ea typeface="Arial"/>
                <a:cs typeface="Arial"/>
              </a:defRPr>
            </a:lvl9pPr>
          </a:lstStyle>
          <a:p xmlns:a="http://schemas.openxmlformats.org/drawingml/2006/main">
            <a:pPr>
              <a:defRPr sz="1275" b="0">
                <a:solidFill>
                  <a:srgbClr val="49636F"/>
                </a:solidFill>
                <a:latin typeface="Arial"/>
                <a:ea typeface="Arial"/>
                <a:cs typeface="Arial"/>
              </a:defRPr>
            </a:pPr>
            <a:r>
              <a:rPr sz="1275" b="0">
                <a:solidFill>
                  <a:srgbClr val="49636F"/>
                </a:solidFill>
                <a:latin typeface="Arial"/>
                <a:ea typeface="Arial"/>
                <a:cs typeface="Arial"/>
              </a:rPr>
              <a:t>Hx Works  /  Self-initiated study  /  Fictional scenario and figures</a:t>
            </a:r>
          </a:p>
        </p:txBody>
      </p:sp>
      <p:sp>
        <p:nvSpPr>
          <p:cNvPr id="6" name="page">
            <a:extLst xmlns:a="http://schemas.openxmlformats.org/drawingml/2006/main">
              <a:ext uri="{FF2B5EF4-FFF2-40B4-BE49-F238E27FC236}">
                <a16:creationId xmlns:a16="http://schemas.microsoft.com/office/drawing/2014/main" id="{9F9A16A1-D850-4417-BDFD-4CB047217B57}"/>
              </a:ext>
            </a:extLst>
          </p:cNvPr>
          <p:cNvSpPr>
            <a:spLocks xmlns:a="http://schemas.openxmlformats.org/drawingml/2006/main" noGrp="1"/>
          </p:cNvSpPr>
          <p:nvPr/>
        </p:nvSpPr>
        <p:spPr>
          <a:xfrm xmlns:a="http://schemas.openxmlformats.org/drawingml/2006/main">
            <a:off x="11239500" y="6286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9636F"/>
                </a:solidFill>
                <a:latin typeface="Arial"/>
                <a:ea typeface="Arial"/>
                <a:cs typeface="Arial"/>
              </a:defRPr>
            </a:defPPr>
            <a:lvl1pPr>
              <a:defRPr sz="1275" b="0">
                <a:solidFill>
                  <a:srgbClr val="49636F"/>
                </a:solidFill>
                <a:latin typeface="Arial"/>
                <a:ea typeface="Arial"/>
                <a:cs typeface="Arial"/>
              </a:defRPr>
            </a:lvl1pPr>
            <a:lvl2pPr>
              <a:defRPr sz="1275" b="0">
                <a:solidFill>
                  <a:srgbClr val="49636F"/>
                </a:solidFill>
                <a:latin typeface="Arial"/>
                <a:ea typeface="Arial"/>
                <a:cs typeface="Arial"/>
              </a:defRPr>
            </a:lvl2pPr>
            <a:lvl3pPr>
              <a:defRPr sz="1275" b="0">
                <a:solidFill>
                  <a:srgbClr val="49636F"/>
                </a:solidFill>
                <a:latin typeface="Arial"/>
                <a:ea typeface="Arial"/>
                <a:cs typeface="Arial"/>
              </a:defRPr>
            </a:lvl3pPr>
            <a:lvl4pPr>
              <a:defRPr sz="1275" b="0">
                <a:solidFill>
                  <a:srgbClr val="49636F"/>
                </a:solidFill>
                <a:latin typeface="Arial"/>
                <a:ea typeface="Arial"/>
                <a:cs typeface="Arial"/>
              </a:defRPr>
            </a:lvl4pPr>
            <a:lvl5pPr>
              <a:defRPr sz="1275" b="0">
                <a:solidFill>
                  <a:srgbClr val="49636F"/>
                </a:solidFill>
                <a:latin typeface="Arial"/>
                <a:ea typeface="Arial"/>
                <a:cs typeface="Arial"/>
              </a:defRPr>
            </a:lvl5pPr>
            <a:lvl6pPr>
              <a:defRPr sz="1275" b="0">
                <a:solidFill>
                  <a:srgbClr val="49636F"/>
                </a:solidFill>
                <a:latin typeface="Arial"/>
                <a:ea typeface="Arial"/>
                <a:cs typeface="Arial"/>
              </a:defRPr>
            </a:lvl6pPr>
            <a:lvl7pPr>
              <a:defRPr sz="1275" b="0">
                <a:solidFill>
                  <a:srgbClr val="49636F"/>
                </a:solidFill>
                <a:latin typeface="Arial"/>
                <a:ea typeface="Arial"/>
                <a:cs typeface="Arial"/>
              </a:defRPr>
            </a:lvl7pPr>
            <a:lvl8pPr>
              <a:defRPr sz="1275" b="0">
                <a:solidFill>
                  <a:srgbClr val="49636F"/>
                </a:solidFill>
                <a:latin typeface="Arial"/>
                <a:ea typeface="Arial"/>
                <a:cs typeface="Arial"/>
              </a:defRPr>
            </a:lvl8pPr>
            <a:lvl9pPr>
              <a:defRPr sz="1275" b="0">
                <a:solidFill>
                  <a:srgbClr val="49636F"/>
                </a:solidFill>
                <a:latin typeface="Arial"/>
                <a:ea typeface="Arial"/>
                <a:cs typeface="Arial"/>
              </a:defRPr>
            </a:lvl9pPr>
          </a:lstStyle>
          <a:p xmlns:a="http://schemas.openxmlformats.org/drawingml/2006/main">
            <a:pPr>
              <a:defRPr sz="1275" b="0">
                <a:solidFill>
                  <a:srgbClr val="49636F"/>
                </a:solidFill>
                <a:latin typeface="Arial"/>
                <a:ea typeface="Arial"/>
                <a:cs typeface="Arial"/>
              </a:defRPr>
            </a:pPr>
            <a:r>
              <a:rPr sz="1275" b="0">
                <a:solidFill>
                  <a:srgbClr val="49636F"/>
                </a:solidFill>
                <a:latin typeface="Arial"/>
                <a:ea typeface="Arial"/>
                <a:cs typeface="Arial"/>
              </a:rPr>
              <a:t>1</a:t>
            </a:r>
          </a:p>
        </p:txBody>
      </p:sp>
    </p:spTree>
    <p:extLst>
      <p:ext uri="{BB962C8B-B14F-4D97-AF65-F5344CB8AC3E}">
        <p14:creationId xmlns:p14="http://schemas.microsoft.com/office/powerpoint/2010/main" val="1967200658"/>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80FCC7D-8285-462E-8B97-7555115EEFEA}"/>
              </a:ext>
            </a:extLst>
          </p:cNvPr>
          <p:cNvSpPr>
            <a:spLocks xmlns:a="http://schemas.openxmlformats.org/drawingml/2006/main" noGrp="1"/>
          </p:cNvSpPr>
          <p:nvPr/>
        </p:nvSpPr>
        <p:spPr>
          <a:xfrm xmlns:a="http://schemas.openxmlformats.org/drawingml/2006/main">
            <a:off x="609600" y="45720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F3B"/>
                </a:solidFill>
                <a:latin typeface="Arial"/>
                <a:ea typeface="Arial"/>
                <a:cs typeface="Arial"/>
              </a:defRPr>
            </a:defPPr>
            <a:lvl1pPr>
              <a:defRPr sz="3450" b="1">
                <a:solidFill>
                  <a:srgbClr val="172F3B"/>
                </a:solidFill>
                <a:latin typeface="Arial"/>
                <a:ea typeface="Arial"/>
                <a:cs typeface="Arial"/>
              </a:defRPr>
            </a:lvl1pPr>
            <a:lvl2pPr>
              <a:defRPr sz="3450" b="1">
                <a:solidFill>
                  <a:srgbClr val="172F3B"/>
                </a:solidFill>
                <a:latin typeface="Arial"/>
                <a:ea typeface="Arial"/>
                <a:cs typeface="Arial"/>
              </a:defRPr>
            </a:lvl2pPr>
            <a:lvl3pPr>
              <a:defRPr sz="3450" b="1">
                <a:solidFill>
                  <a:srgbClr val="172F3B"/>
                </a:solidFill>
                <a:latin typeface="Arial"/>
                <a:ea typeface="Arial"/>
                <a:cs typeface="Arial"/>
              </a:defRPr>
            </a:lvl3pPr>
            <a:lvl4pPr>
              <a:defRPr sz="3450" b="1">
                <a:solidFill>
                  <a:srgbClr val="172F3B"/>
                </a:solidFill>
                <a:latin typeface="Arial"/>
                <a:ea typeface="Arial"/>
                <a:cs typeface="Arial"/>
              </a:defRPr>
            </a:lvl4pPr>
            <a:lvl5pPr>
              <a:defRPr sz="3450" b="1">
                <a:solidFill>
                  <a:srgbClr val="172F3B"/>
                </a:solidFill>
                <a:latin typeface="Arial"/>
                <a:ea typeface="Arial"/>
                <a:cs typeface="Arial"/>
              </a:defRPr>
            </a:lvl5pPr>
            <a:lvl6pPr>
              <a:defRPr sz="3450" b="1">
                <a:solidFill>
                  <a:srgbClr val="172F3B"/>
                </a:solidFill>
                <a:latin typeface="Arial"/>
                <a:ea typeface="Arial"/>
                <a:cs typeface="Arial"/>
              </a:defRPr>
            </a:lvl6pPr>
            <a:lvl7pPr>
              <a:defRPr sz="3450" b="1">
                <a:solidFill>
                  <a:srgbClr val="172F3B"/>
                </a:solidFill>
                <a:latin typeface="Arial"/>
                <a:ea typeface="Arial"/>
                <a:cs typeface="Arial"/>
              </a:defRPr>
            </a:lvl7pPr>
            <a:lvl8pPr>
              <a:defRPr sz="3450" b="1">
                <a:solidFill>
                  <a:srgbClr val="172F3B"/>
                </a:solidFill>
                <a:latin typeface="Arial"/>
                <a:ea typeface="Arial"/>
                <a:cs typeface="Arial"/>
              </a:defRPr>
            </a:lvl8pPr>
            <a:lvl9pPr>
              <a:defRPr sz="3450" b="1">
                <a:solidFill>
                  <a:srgbClr val="172F3B"/>
                </a:solidFill>
                <a:latin typeface="Arial"/>
                <a:ea typeface="Arial"/>
                <a:cs typeface="Arial"/>
              </a:defRPr>
            </a:lvl9pPr>
          </a:lstStyle>
          <a:p xmlns:a="http://schemas.openxmlformats.org/drawingml/2006/main">
            <a:pPr>
              <a:defRPr sz="3450" b="1">
                <a:solidFill>
                  <a:srgbClr val="172F3B"/>
                </a:solidFill>
                <a:latin typeface="Arial"/>
                <a:ea typeface="Arial"/>
                <a:cs typeface="Arial"/>
              </a:defRPr>
            </a:pPr>
            <a:r>
              <a:rPr sz="3450" b="1">
                <a:solidFill>
                  <a:srgbClr val="172F3B"/>
                </a:solidFill>
                <a:latin typeface="Arial"/>
                <a:ea typeface="Arial"/>
                <a:cs typeface="Arial"/>
              </a:rPr>
              <a:t>Freight and rework reverse the ranking.</a:t>
            </a:r>
          </a:p>
        </p:txBody>
      </p:sp>
      <p:sp>
        <p:nvSpPr>
          <p:cNvPr id="2" name="units">
            <a:extLst xmlns:a="http://schemas.openxmlformats.org/drawingml/2006/main">
              <a:ext uri="{FF2B5EF4-FFF2-40B4-BE49-F238E27FC236}">
                <a16:creationId xmlns:a16="http://schemas.microsoft.com/office/drawing/2014/main" id="{BEA13B1E-7823-4C9D-BCEC-D99B1CEAF911}"/>
              </a:ext>
            </a:extLst>
          </p:cNvPr>
          <p:cNvSpPr>
            <a:spLocks xmlns:a="http://schemas.openxmlformats.org/drawingml/2006/main" noGrp="1"/>
          </p:cNvSpPr>
          <p:nvPr/>
        </p:nvSpPr>
        <p:spPr>
          <a:xfrm xmlns:a="http://schemas.openxmlformats.org/drawingml/2006/main">
            <a:off x="628650" y="14382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9636F"/>
                </a:solidFill>
                <a:latin typeface="Arial"/>
                <a:ea typeface="Arial"/>
                <a:cs typeface="Arial"/>
              </a:defRPr>
            </a:defPPr>
            <a:lvl1pPr>
              <a:defRPr sz="1725" b="0">
                <a:solidFill>
                  <a:srgbClr val="49636F"/>
                </a:solidFill>
                <a:latin typeface="Arial"/>
                <a:ea typeface="Arial"/>
                <a:cs typeface="Arial"/>
              </a:defRPr>
            </a:lvl1pPr>
            <a:lvl2pPr>
              <a:defRPr sz="1725" b="0">
                <a:solidFill>
                  <a:srgbClr val="49636F"/>
                </a:solidFill>
                <a:latin typeface="Arial"/>
                <a:ea typeface="Arial"/>
                <a:cs typeface="Arial"/>
              </a:defRPr>
            </a:lvl2pPr>
            <a:lvl3pPr>
              <a:defRPr sz="1725" b="0">
                <a:solidFill>
                  <a:srgbClr val="49636F"/>
                </a:solidFill>
                <a:latin typeface="Arial"/>
                <a:ea typeface="Arial"/>
                <a:cs typeface="Arial"/>
              </a:defRPr>
            </a:lvl3pPr>
            <a:lvl4pPr>
              <a:defRPr sz="1725" b="0">
                <a:solidFill>
                  <a:srgbClr val="49636F"/>
                </a:solidFill>
                <a:latin typeface="Arial"/>
                <a:ea typeface="Arial"/>
                <a:cs typeface="Arial"/>
              </a:defRPr>
            </a:lvl4pPr>
            <a:lvl5pPr>
              <a:defRPr sz="1725" b="0">
                <a:solidFill>
                  <a:srgbClr val="49636F"/>
                </a:solidFill>
                <a:latin typeface="Arial"/>
                <a:ea typeface="Arial"/>
                <a:cs typeface="Arial"/>
              </a:defRPr>
            </a:lvl5pPr>
            <a:lvl6pPr>
              <a:defRPr sz="1725" b="0">
                <a:solidFill>
                  <a:srgbClr val="49636F"/>
                </a:solidFill>
                <a:latin typeface="Arial"/>
                <a:ea typeface="Arial"/>
                <a:cs typeface="Arial"/>
              </a:defRPr>
            </a:lvl6pPr>
            <a:lvl7pPr>
              <a:defRPr sz="1725" b="0">
                <a:solidFill>
                  <a:srgbClr val="49636F"/>
                </a:solidFill>
                <a:latin typeface="Arial"/>
                <a:ea typeface="Arial"/>
                <a:cs typeface="Arial"/>
              </a:defRPr>
            </a:lvl7pPr>
            <a:lvl8pPr>
              <a:defRPr sz="1725" b="0">
                <a:solidFill>
                  <a:srgbClr val="49636F"/>
                </a:solidFill>
                <a:latin typeface="Arial"/>
                <a:ea typeface="Arial"/>
                <a:cs typeface="Arial"/>
              </a:defRPr>
            </a:lvl8pPr>
            <a:lvl9pPr>
              <a:defRPr sz="1725" b="0">
                <a:solidFill>
                  <a:srgbClr val="49636F"/>
                </a:solidFill>
                <a:latin typeface="Arial"/>
                <a:ea typeface="Arial"/>
                <a:cs typeface="Arial"/>
              </a:defRPr>
            </a:lvl9pPr>
          </a:lstStyle>
          <a:p xmlns:a="http://schemas.openxmlformats.org/drawingml/2006/main">
            <a:pPr>
              <a:defRPr sz="1725" b="0">
                <a:solidFill>
                  <a:srgbClr val="49636F"/>
                </a:solidFill>
                <a:latin typeface="Arial"/>
                <a:ea typeface="Arial"/>
                <a:cs typeface="Arial"/>
              </a:defRPr>
            </a:pPr>
            <a:r>
              <a:rPr sz="1725" b="0">
                <a:solidFill>
                  <a:srgbClr val="49636F"/>
                </a:solidFill>
                <a:latin typeface="Arial"/>
                <a:ea typeface="Arial"/>
                <a:cs typeface="Arial"/>
              </a:rPr>
              <a:t>One order of 1,000 units. Illustrative USD, rounded to whole dollars.</a:t>
            </a:r>
          </a:p>
        </p:txBody>
      </p:sp>
      <p:graphicFrame>
        <p:nvGraphicFramePr>
          <p:cNvPr id="3" name="">
            <a:extLst xmlns:a="http://schemas.openxmlformats.org/drawingml/2006/main">
              <a:ext uri="{FF2B5EF4-FFF2-40B4-BE49-F238E27FC236}">
                <a16:creationId xmlns:a16="http://schemas.microsoft.com/office/drawing/2014/main" id="{129F9E90-72D3-42F8-BF33-0462CB90BD37}"/>
              </a:ext>
            </a:extLst>
          </p:cNvPr>
          <p:cNvGraphicFramePr/>
          <p:nvPr/>
        </p:nvGraphicFramePr>
        <p:xfrm>
          <a:off xmlns:a="http://schemas.openxmlformats.org/drawingml/2006/main" x="609600" y="2124075"/>
          <a:ext xmlns:a="http://schemas.openxmlformats.org/drawingml/2006/main" cx="10934700" cy="3200400"/>
        </p:xfrm>
        <a:graphic xmlns:a="http://schemas.openxmlformats.org/drawingml/2006/main">
          <a:graphicData uri="http://schemas.openxmlformats.org/drawingml/2006/table">
            <a:tbl>
              <a:tblPr/>
              <a:tblGrid>
                <a:gridCol w="5410200"/>
                <a:gridCol w="2762250"/>
                <a:gridCol w="2762250"/>
              </a:tblGrid>
              <a:tr h="533400">
                <a:tc>
                  <a:txBody>
                    <a:bodyPr/>
                    <a:lstStyle/>
                    <a:p>
                      <a:r>
                        <a:rPr sz="1875" b="1">
                          <a:solidFill>
                            <a:srgbClr val="FFFFFF"/>
                          </a:solidFill>
                          <a:latin typeface="Arial"/>
                          <a:ea typeface="Arial"/>
                          <a:cs typeface="Arial"/>
                        </a:rPr>
                        <a:t>Cost component</a:t>
                      </a:r>
                    </a:p>
                  </a:txBody>
                  <a:tcPr marL="91440" marR="91440" marT="45720" marB="45720">
                    <a:lnL w="9525">
                      <a:solidFill>
                        <a:srgbClr val="D4D5CB"/>
                      </a:solidFill>
                      <a:prstDash val="solid"/>
                    </a:lnL>
                    <a:lnR w="9525">
                      <a:solidFill>
                        <a:srgbClr val="D4D5CB"/>
                      </a:solidFill>
                      <a:prstDash val="solid"/>
                    </a:lnR>
                    <a:lnT w="9525">
                      <a:solidFill>
                        <a:srgbClr val="D4D5CB"/>
                      </a:solidFill>
                      <a:prstDash val="solid"/>
                    </a:lnT>
                    <a:lnB w="9525">
                      <a:solidFill>
                        <a:srgbClr val="D4D5CB"/>
                      </a:solidFill>
                      <a:prstDash val="solid"/>
                    </a:lnB>
                    <a:solidFill>
                      <a:srgbClr val="172F3B"/>
                    </a:solidFill>
                  </a:tcPr>
                </a:tc>
                <a:tc>
                  <a:txBody>
                    <a:bodyPr/>
                    <a:lstStyle/>
                    <a:p>
                      <a:r>
                        <a:rPr sz="1875" b="1">
                          <a:solidFill>
                            <a:srgbClr val="FFFFFF"/>
                          </a:solidFill>
                          <a:latin typeface="Arial"/>
                          <a:ea typeface="Arial"/>
                          <a:cs typeface="Arial"/>
                        </a:rPr>
                        <a:t>Supplier A</a:t>
                      </a:r>
                    </a:p>
                  </a:txBody>
                  <a:tcPr marL="91440" marR="91440" marT="45720" marB="45720">
                    <a:lnR w="9525">
                      <a:solidFill>
                        <a:srgbClr val="D4D5CB"/>
                      </a:solidFill>
                      <a:prstDash val="solid"/>
                    </a:lnR>
                    <a:lnT w="9525">
                      <a:solidFill>
                        <a:srgbClr val="D4D5CB"/>
                      </a:solidFill>
                      <a:prstDash val="solid"/>
                    </a:lnT>
                    <a:lnB w="9525">
                      <a:solidFill>
                        <a:srgbClr val="D4D5CB"/>
                      </a:solidFill>
                      <a:prstDash val="solid"/>
                    </a:lnB>
                    <a:solidFill>
                      <a:srgbClr val="172F3B"/>
                    </a:solidFill>
                  </a:tcPr>
                </a:tc>
                <a:tc>
                  <a:txBody>
                    <a:bodyPr/>
                    <a:lstStyle/>
                    <a:p>
                      <a:r>
                        <a:rPr sz="1875" b="1">
                          <a:solidFill>
                            <a:srgbClr val="FFFFFF"/>
                          </a:solidFill>
                          <a:latin typeface="Arial"/>
                          <a:ea typeface="Arial"/>
                          <a:cs typeface="Arial"/>
                        </a:rPr>
                        <a:t>Supplier B</a:t>
                      </a:r>
                    </a:p>
                  </a:txBody>
                  <a:tcPr marL="91440" marR="91440" marT="45720" marB="45720">
                    <a:lnR w="9525">
                      <a:solidFill>
                        <a:srgbClr val="D4D5CB"/>
                      </a:solidFill>
                      <a:prstDash val="solid"/>
                    </a:lnR>
                    <a:lnT w="9525">
                      <a:solidFill>
                        <a:srgbClr val="D4D5CB"/>
                      </a:solidFill>
                      <a:prstDash val="solid"/>
                    </a:lnT>
                    <a:lnB w="9525">
                      <a:solidFill>
                        <a:srgbClr val="D4D5CB"/>
                      </a:solidFill>
                      <a:prstDash val="solid"/>
                    </a:lnB>
                    <a:solidFill>
                      <a:srgbClr val="172F3B"/>
                    </a:solidFill>
                  </a:tcPr>
                </a:tc>
              </a:tr>
              <a:tr h="533400">
                <a:tc>
                  <a:txBody>
                    <a:bodyPr/>
                    <a:lstStyle/>
                    <a:p>
                      <a:r>
                        <a:rPr sz="1875" b="0">
                          <a:solidFill>
                            <a:srgbClr val="172F3B"/>
                          </a:solidFill>
                          <a:latin typeface="Arial"/>
                          <a:ea typeface="Arial"/>
                          <a:cs typeface="Arial"/>
                        </a:rPr>
                        <a:t>Goods</a:t>
                      </a:r>
                    </a:p>
                  </a:txBody>
                  <a:tcPr marL="91440" marR="91440" marT="45720" marB="45720">
                    <a:lnL w="9525">
                      <a:solidFill>
                        <a:srgbClr val="D4D5CB"/>
                      </a:solidFill>
                      <a:prstDash val="solid"/>
                    </a:lnL>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$4,200</a:t>
                      </a:r>
                    </a:p>
                  </a:txBody>
                  <a:tcPr marL="91440" marR="91440" marT="45720" marB="45720">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$4,450</a:t>
                      </a:r>
                    </a:p>
                  </a:txBody>
                  <a:tcPr marL="91440" marR="91440" marT="45720" marB="45720">
                    <a:lnR w="9525">
                      <a:solidFill>
                        <a:srgbClr val="D4D5CB"/>
                      </a:solidFill>
                      <a:prstDash val="solid"/>
                    </a:lnR>
                    <a:lnB w="9525">
                      <a:solidFill>
                        <a:srgbClr val="D4D5CB"/>
                      </a:solidFill>
                      <a:prstDash val="solid"/>
                    </a:lnB>
                    <a:solidFill>
                      <a:srgbClr val="F5F1E8"/>
                    </a:solidFill>
                  </a:tcPr>
                </a:tc>
              </a:tr>
              <a:tr h="533400">
                <a:tc>
                  <a:txBody>
                    <a:bodyPr/>
                    <a:lstStyle/>
                    <a:p>
                      <a:r>
                        <a:rPr sz="1875" b="0">
                          <a:solidFill>
                            <a:srgbClr val="172F3B"/>
                          </a:solidFill>
                          <a:latin typeface="Arial"/>
                          <a:ea typeface="Arial"/>
                          <a:cs typeface="Arial"/>
                        </a:rPr>
                        <a:t>Freight</a:t>
                      </a:r>
                    </a:p>
                  </a:txBody>
                  <a:tcPr marL="91440" marR="91440" marT="45720" marB="45720">
                    <a:lnL w="9525">
                      <a:solidFill>
                        <a:srgbClr val="D4D5CB"/>
                      </a:solidFill>
                      <a:prstDash val="solid"/>
                    </a:lnL>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$700</a:t>
                      </a:r>
                    </a:p>
                  </a:txBody>
                  <a:tcPr marL="91440" marR="91440" marT="45720" marB="45720">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$420</a:t>
                      </a:r>
                    </a:p>
                  </a:txBody>
                  <a:tcPr marL="91440" marR="91440" marT="45720" marB="45720">
                    <a:lnR w="9525">
                      <a:solidFill>
                        <a:srgbClr val="D4D5CB"/>
                      </a:solidFill>
                      <a:prstDash val="solid"/>
                    </a:lnR>
                    <a:lnB w="9525">
                      <a:solidFill>
                        <a:srgbClr val="D4D5CB"/>
                      </a:solidFill>
                      <a:prstDash val="solid"/>
                    </a:lnB>
                    <a:solidFill>
                      <a:srgbClr val="F5F1E8"/>
                    </a:solidFill>
                  </a:tcPr>
                </a:tc>
              </a:tr>
              <a:tr h="533400">
                <a:tc>
                  <a:txBody>
                    <a:bodyPr/>
                    <a:lstStyle/>
                    <a:p>
                      <a:r>
                        <a:rPr sz="1875" b="0">
                          <a:solidFill>
                            <a:srgbClr val="172F3B"/>
                          </a:solidFill>
                          <a:latin typeface="Arial"/>
                          <a:ea typeface="Arial"/>
                          <a:cs typeface="Arial"/>
                        </a:rPr>
                        <a:t>Duty</a:t>
                      </a:r>
                    </a:p>
                  </a:txBody>
                  <a:tcPr marL="91440" marR="91440" marT="45720" marB="45720">
                    <a:lnL w="9525">
                      <a:solidFill>
                        <a:srgbClr val="D4D5CB"/>
                      </a:solidFill>
                      <a:prstDash val="solid"/>
                    </a:lnL>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$252</a:t>
                      </a:r>
                    </a:p>
                  </a:txBody>
                  <a:tcPr marL="91440" marR="91440" marT="45720" marB="45720">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$267</a:t>
                      </a:r>
                    </a:p>
                  </a:txBody>
                  <a:tcPr marL="91440" marR="91440" marT="45720" marB="45720">
                    <a:lnR w="9525">
                      <a:solidFill>
                        <a:srgbClr val="D4D5CB"/>
                      </a:solidFill>
                      <a:prstDash val="solid"/>
                    </a:lnR>
                    <a:lnB w="9525">
                      <a:solidFill>
                        <a:srgbClr val="D4D5CB"/>
                      </a:solidFill>
                      <a:prstDash val="solid"/>
                    </a:lnB>
                    <a:solidFill>
                      <a:srgbClr val="F5F1E8"/>
                    </a:solidFill>
                  </a:tcPr>
                </a:tc>
              </a:tr>
              <a:tr h="533400">
                <a:tc>
                  <a:txBody>
                    <a:bodyPr/>
                    <a:lstStyle/>
                    <a:p>
                      <a:r>
                        <a:rPr sz="1875" b="0">
                          <a:solidFill>
                            <a:srgbClr val="172F3B"/>
                          </a:solidFill>
                          <a:latin typeface="Arial"/>
                          <a:ea typeface="Arial"/>
                          <a:cs typeface="Arial"/>
                        </a:rPr>
                        <a:t>Expected rework</a:t>
                      </a:r>
                    </a:p>
                  </a:txBody>
                  <a:tcPr marL="91440" marR="91440" marT="45720" marB="45720">
                    <a:lnL w="9525">
                      <a:solidFill>
                        <a:srgbClr val="D4D5CB"/>
                      </a:solidFill>
                      <a:prstDash val="solid"/>
                    </a:lnL>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$420</a:t>
                      </a:r>
                    </a:p>
                  </a:txBody>
                  <a:tcPr marL="91440" marR="91440" marT="45720" marB="45720">
                    <a:lnR w="9525">
                      <a:solidFill>
                        <a:srgbClr val="D4D5CB"/>
                      </a:solidFill>
                      <a:prstDash val="solid"/>
                    </a:lnR>
                    <a:lnB w="9525">
                      <a:solidFill>
                        <a:srgbClr val="D4D5CB"/>
                      </a:solidFill>
                      <a:prstDash val="solid"/>
                    </a:lnB>
                    <a:solidFill>
                      <a:srgbClr val="F5F1E8"/>
                    </a:solidFill>
                  </a:tcPr>
                </a:tc>
                <a:tc>
                  <a:txBody>
                    <a:bodyPr/>
                    <a:lstStyle/>
                    <a:p>
                      <a:r>
                        <a:rPr sz="1875" b="0">
                          <a:solidFill>
                            <a:srgbClr val="172F3B"/>
                          </a:solidFill>
                          <a:latin typeface="Arial"/>
                          <a:ea typeface="Arial"/>
                          <a:cs typeface="Arial"/>
                        </a:rPr>
                        <a:t>$215</a:t>
                      </a:r>
                    </a:p>
                  </a:txBody>
                  <a:tcPr marL="91440" marR="91440" marT="45720" marB="45720">
                    <a:lnR w="9525">
                      <a:solidFill>
                        <a:srgbClr val="D4D5CB"/>
                      </a:solidFill>
                      <a:prstDash val="solid"/>
                    </a:lnR>
                    <a:lnB w="9525">
                      <a:solidFill>
                        <a:srgbClr val="D4D5CB"/>
                      </a:solidFill>
                      <a:prstDash val="solid"/>
                    </a:lnB>
                    <a:solidFill>
                      <a:srgbClr val="F5F1E8"/>
                    </a:solidFill>
                  </a:tcPr>
                </a:tc>
              </a:tr>
              <a:tr h="533400">
                <a:tc>
                  <a:txBody>
                    <a:bodyPr/>
                    <a:lstStyle/>
                    <a:p>
                      <a:r>
                        <a:rPr sz="2025" b="1">
                          <a:solidFill>
                            <a:srgbClr val="172F3B"/>
                          </a:solidFill>
                          <a:latin typeface="Arial"/>
                          <a:ea typeface="Arial"/>
                          <a:cs typeface="Arial"/>
                        </a:rPr>
                        <a:t>Total landed cost</a:t>
                      </a:r>
                    </a:p>
                  </a:txBody>
                  <a:tcPr marL="91440" marR="91440" marT="45720" marB="45720">
                    <a:lnL w="9525">
                      <a:solidFill>
                        <a:srgbClr val="D4D5CB"/>
                      </a:solidFill>
                      <a:prstDash val="solid"/>
                    </a:lnL>
                    <a:lnR w="9525">
                      <a:solidFill>
                        <a:srgbClr val="D4D5CB"/>
                      </a:solidFill>
                      <a:prstDash val="solid"/>
                    </a:lnR>
                    <a:lnB w="9525">
                      <a:solidFill>
                        <a:srgbClr val="D4D5CB"/>
                      </a:solidFill>
                      <a:prstDash val="solid"/>
                    </a:lnB>
                    <a:solidFill>
                      <a:srgbClr val="E5E9DF"/>
                    </a:solidFill>
                  </a:tcPr>
                </a:tc>
                <a:tc>
                  <a:txBody>
                    <a:bodyPr/>
                    <a:lstStyle/>
                    <a:p>
                      <a:r>
                        <a:rPr sz="2025" b="1">
                          <a:solidFill>
                            <a:srgbClr val="172F3B"/>
                          </a:solidFill>
                          <a:latin typeface="Arial"/>
                          <a:ea typeface="Arial"/>
                          <a:cs typeface="Arial"/>
                        </a:rPr>
                        <a:t>$5,572</a:t>
                      </a:r>
                    </a:p>
                  </a:txBody>
                  <a:tcPr marL="91440" marR="91440" marT="45720" marB="45720">
                    <a:lnR w="9525">
                      <a:solidFill>
                        <a:srgbClr val="D4D5CB"/>
                      </a:solidFill>
                      <a:prstDash val="solid"/>
                    </a:lnR>
                    <a:lnB w="9525">
                      <a:solidFill>
                        <a:srgbClr val="D4D5CB"/>
                      </a:solidFill>
                      <a:prstDash val="solid"/>
                    </a:lnB>
                    <a:solidFill>
                      <a:srgbClr val="E5E9DF"/>
                    </a:solidFill>
                  </a:tcPr>
                </a:tc>
                <a:tc>
                  <a:txBody>
                    <a:bodyPr/>
                    <a:lstStyle/>
                    <a:p>
                      <a:r>
                        <a:rPr sz="2025" b="1">
                          <a:solidFill>
                            <a:srgbClr val="172F3B"/>
                          </a:solidFill>
                          <a:latin typeface="Arial"/>
                          <a:ea typeface="Arial"/>
                          <a:cs typeface="Arial"/>
                        </a:rPr>
                        <a:t>$5,352</a:t>
                      </a:r>
                    </a:p>
                  </a:txBody>
                  <a:tcPr marL="91440" marR="91440" marT="45720" marB="45720">
                    <a:lnR w="9525">
                      <a:solidFill>
                        <a:srgbClr val="D4D5CB"/>
                      </a:solidFill>
                      <a:prstDash val="solid"/>
                    </a:lnR>
                    <a:lnB w="9525">
                      <a:solidFill>
                        <a:srgbClr val="D4D5CB"/>
                      </a:solidFill>
                      <a:prstDash val="solid"/>
                    </a:lnB>
                    <a:solidFill>
                      <a:srgbClr val="E5E9DF"/>
                    </a:solidFill>
                  </a:tcPr>
                </a:tc>
              </a:tr>
            </a:tbl>
          </a:graphicData>
        </a:graphic>
      </p:graphicFrame>
      <p:sp>
        <p:nvSpPr>
          <p:cNvPr id="4" name="method">
            <a:extLst xmlns:a="http://schemas.openxmlformats.org/drawingml/2006/main">
              <a:ext uri="{FF2B5EF4-FFF2-40B4-BE49-F238E27FC236}">
                <a16:creationId xmlns:a16="http://schemas.microsoft.com/office/drawing/2014/main" id="{9D0D69C5-40A0-4D70-80E5-B4B074123B93}"/>
              </a:ext>
            </a:extLst>
          </p:cNvPr>
          <p:cNvSpPr>
            <a:spLocks xmlns:a="http://schemas.openxmlformats.org/drawingml/2006/main" noGrp="1"/>
          </p:cNvSpPr>
          <p:nvPr/>
        </p:nvSpPr>
        <p:spPr>
          <a:xfrm xmlns:a="http://schemas.openxmlformats.org/drawingml/2006/main">
            <a:off x="628650" y="5600700"/>
            <a:ext cx="1081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9636F"/>
                </a:solidFill>
                <a:latin typeface="Arial"/>
                <a:ea typeface="Arial"/>
                <a:cs typeface="Arial"/>
              </a:defRPr>
            </a:defPPr>
            <a:lvl1pPr>
              <a:defRPr sz="1650" b="0">
                <a:solidFill>
                  <a:srgbClr val="49636F"/>
                </a:solidFill>
                <a:latin typeface="Arial"/>
                <a:ea typeface="Arial"/>
                <a:cs typeface="Arial"/>
              </a:defRPr>
            </a:lvl1pPr>
            <a:lvl2pPr>
              <a:defRPr sz="1650" b="0">
                <a:solidFill>
                  <a:srgbClr val="49636F"/>
                </a:solidFill>
                <a:latin typeface="Arial"/>
                <a:ea typeface="Arial"/>
                <a:cs typeface="Arial"/>
              </a:defRPr>
            </a:lvl2pPr>
            <a:lvl3pPr>
              <a:defRPr sz="1650" b="0">
                <a:solidFill>
                  <a:srgbClr val="49636F"/>
                </a:solidFill>
                <a:latin typeface="Arial"/>
                <a:ea typeface="Arial"/>
                <a:cs typeface="Arial"/>
              </a:defRPr>
            </a:lvl3pPr>
            <a:lvl4pPr>
              <a:defRPr sz="1650" b="0">
                <a:solidFill>
                  <a:srgbClr val="49636F"/>
                </a:solidFill>
                <a:latin typeface="Arial"/>
                <a:ea typeface="Arial"/>
                <a:cs typeface="Arial"/>
              </a:defRPr>
            </a:lvl4pPr>
            <a:lvl5pPr>
              <a:defRPr sz="1650" b="0">
                <a:solidFill>
                  <a:srgbClr val="49636F"/>
                </a:solidFill>
                <a:latin typeface="Arial"/>
                <a:ea typeface="Arial"/>
                <a:cs typeface="Arial"/>
              </a:defRPr>
            </a:lvl5pPr>
            <a:lvl6pPr>
              <a:defRPr sz="1650" b="0">
                <a:solidFill>
                  <a:srgbClr val="49636F"/>
                </a:solidFill>
                <a:latin typeface="Arial"/>
                <a:ea typeface="Arial"/>
                <a:cs typeface="Arial"/>
              </a:defRPr>
            </a:lvl6pPr>
            <a:lvl7pPr>
              <a:defRPr sz="1650" b="0">
                <a:solidFill>
                  <a:srgbClr val="49636F"/>
                </a:solidFill>
                <a:latin typeface="Arial"/>
                <a:ea typeface="Arial"/>
                <a:cs typeface="Arial"/>
              </a:defRPr>
            </a:lvl7pPr>
            <a:lvl8pPr>
              <a:defRPr sz="1650" b="0">
                <a:solidFill>
                  <a:srgbClr val="49636F"/>
                </a:solidFill>
                <a:latin typeface="Arial"/>
                <a:ea typeface="Arial"/>
                <a:cs typeface="Arial"/>
              </a:defRPr>
            </a:lvl8pPr>
            <a:lvl9pPr>
              <a:defRPr sz="1650" b="0">
                <a:solidFill>
                  <a:srgbClr val="49636F"/>
                </a:solidFill>
                <a:latin typeface="Arial"/>
                <a:ea typeface="Arial"/>
                <a:cs typeface="Arial"/>
              </a:defRPr>
            </a:lvl9pPr>
          </a:lstStyle>
          <a:p xmlns:a="http://schemas.openxmlformats.org/drawingml/2006/main">
            <a:pPr>
              <a:defRPr sz="1650" b="0">
                <a:solidFill>
                  <a:srgbClr val="49636F"/>
                </a:solidFill>
                <a:latin typeface="Arial"/>
                <a:ea typeface="Arial"/>
                <a:cs typeface="Arial"/>
              </a:defRPr>
            </a:pPr>
            <a:r>
              <a:rPr sz="1650" b="0">
                <a:solidFill>
                  <a:srgbClr val="49636F"/>
                </a:solidFill>
                <a:latin typeface="Arial"/>
                <a:ea typeface="Arial"/>
                <a:cs typeface="Arial"/>
              </a:rPr>
              <a:t>Expected rework is an assumed allowance, not an observed defect rate.</a:t>
            </a:r>
          </a:p>
        </p:txBody>
      </p:sp>
      <p:sp>
        <p:nvSpPr>
          <p:cNvPr id="5" name="disclosure">
            <a:extLst xmlns:a="http://schemas.openxmlformats.org/drawingml/2006/main">
              <a:ext uri="{FF2B5EF4-FFF2-40B4-BE49-F238E27FC236}">
                <a16:creationId xmlns:a16="http://schemas.microsoft.com/office/drawing/2014/main" id="{AF6E4A6A-F2DB-445E-ABB7-2CFFDB51A387}"/>
              </a:ext>
            </a:extLst>
          </p:cNvPr>
          <p:cNvSpPr>
            <a:spLocks xmlns:a="http://schemas.openxmlformats.org/drawingml/2006/main" noGrp="1"/>
          </p:cNvSpPr>
          <p:nvPr/>
        </p:nvSpPr>
        <p:spPr>
          <a:xfrm xmlns:a="http://schemas.openxmlformats.org/drawingml/2006/main">
            <a:off x="609600" y="62865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9636F"/>
                </a:solidFill>
                <a:latin typeface="Arial"/>
                <a:ea typeface="Arial"/>
                <a:cs typeface="Arial"/>
              </a:defRPr>
            </a:defPPr>
            <a:lvl1pPr>
              <a:defRPr sz="1275" b="0">
                <a:solidFill>
                  <a:srgbClr val="49636F"/>
                </a:solidFill>
                <a:latin typeface="Arial"/>
                <a:ea typeface="Arial"/>
                <a:cs typeface="Arial"/>
              </a:defRPr>
            </a:lvl1pPr>
            <a:lvl2pPr>
              <a:defRPr sz="1275" b="0">
                <a:solidFill>
                  <a:srgbClr val="49636F"/>
                </a:solidFill>
                <a:latin typeface="Arial"/>
                <a:ea typeface="Arial"/>
                <a:cs typeface="Arial"/>
              </a:defRPr>
            </a:lvl2pPr>
            <a:lvl3pPr>
              <a:defRPr sz="1275" b="0">
                <a:solidFill>
                  <a:srgbClr val="49636F"/>
                </a:solidFill>
                <a:latin typeface="Arial"/>
                <a:ea typeface="Arial"/>
                <a:cs typeface="Arial"/>
              </a:defRPr>
            </a:lvl3pPr>
            <a:lvl4pPr>
              <a:defRPr sz="1275" b="0">
                <a:solidFill>
                  <a:srgbClr val="49636F"/>
                </a:solidFill>
                <a:latin typeface="Arial"/>
                <a:ea typeface="Arial"/>
                <a:cs typeface="Arial"/>
              </a:defRPr>
            </a:lvl4pPr>
            <a:lvl5pPr>
              <a:defRPr sz="1275" b="0">
                <a:solidFill>
                  <a:srgbClr val="49636F"/>
                </a:solidFill>
                <a:latin typeface="Arial"/>
                <a:ea typeface="Arial"/>
                <a:cs typeface="Arial"/>
              </a:defRPr>
            </a:lvl5pPr>
            <a:lvl6pPr>
              <a:defRPr sz="1275" b="0">
                <a:solidFill>
                  <a:srgbClr val="49636F"/>
                </a:solidFill>
                <a:latin typeface="Arial"/>
                <a:ea typeface="Arial"/>
                <a:cs typeface="Arial"/>
              </a:defRPr>
            </a:lvl6pPr>
            <a:lvl7pPr>
              <a:defRPr sz="1275" b="0">
                <a:solidFill>
                  <a:srgbClr val="49636F"/>
                </a:solidFill>
                <a:latin typeface="Arial"/>
                <a:ea typeface="Arial"/>
                <a:cs typeface="Arial"/>
              </a:defRPr>
            </a:lvl7pPr>
            <a:lvl8pPr>
              <a:defRPr sz="1275" b="0">
                <a:solidFill>
                  <a:srgbClr val="49636F"/>
                </a:solidFill>
                <a:latin typeface="Arial"/>
                <a:ea typeface="Arial"/>
                <a:cs typeface="Arial"/>
              </a:defRPr>
            </a:lvl8pPr>
            <a:lvl9pPr>
              <a:defRPr sz="1275" b="0">
                <a:solidFill>
                  <a:srgbClr val="49636F"/>
                </a:solidFill>
                <a:latin typeface="Arial"/>
                <a:ea typeface="Arial"/>
                <a:cs typeface="Arial"/>
              </a:defRPr>
            </a:lvl9pPr>
          </a:lstStyle>
          <a:p xmlns:a="http://schemas.openxmlformats.org/drawingml/2006/main">
            <a:pPr>
              <a:defRPr sz="1275" b="0">
                <a:solidFill>
                  <a:srgbClr val="49636F"/>
                </a:solidFill>
                <a:latin typeface="Arial"/>
                <a:ea typeface="Arial"/>
                <a:cs typeface="Arial"/>
              </a:defRPr>
            </a:pPr>
            <a:r>
              <a:rPr sz="1275" b="0">
                <a:solidFill>
                  <a:srgbClr val="49636F"/>
                </a:solidFill>
                <a:latin typeface="Arial"/>
                <a:ea typeface="Arial"/>
                <a:cs typeface="Arial"/>
              </a:rPr>
              <a:t>Hx Works  /  Self-initiated study  /  Fictional scenario and figures</a:t>
            </a:r>
          </a:p>
        </p:txBody>
      </p:sp>
      <p:sp>
        <p:nvSpPr>
          <p:cNvPr id="6" name="page">
            <a:extLst xmlns:a="http://schemas.openxmlformats.org/drawingml/2006/main">
              <a:ext uri="{FF2B5EF4-FFF2-40B4-BE49-F238E27FC236}">
                <a16:creationId xmlns:a16="http://schemas.microsoft.com/office/drawing/2014/main" id="{4A4165E9-A7FC-44FC-A210-C891B65B505B}"/>
              </a:ext>
            </a:extLst>
          </p:cNvPr>
          <p:cNvSpPr>
            <a:spLocks xmlns:a="http://schemas.openxmlformats.org/drawingml/2006/main" noGrp="1"/>
          </p:cNvSpPr>
          <p:nvPr/>
        </p:nvSpPr>
        <p:spPr>
          <a:xfrm xmlns:a="http://schemas.openxmlformats.org/drawingml/2006/main">
            <a:off x="11239500" y="6286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9636F"/>
                </a:solidFill>
                <a:latin typeface="Arial"/>
                <a:ea typeface="Arial"/>
                <a:cs typeface="Arial"/>
              </a:defRPr>
            </a:defPPr>
            <a:lvl1pPr>
              <a:defRPr sz="1275" b="0">
                <a:solidFill>
                  <a:srgbClr val="49636F"/>
                </a:solidFill>
                <a:latin typeface="Arial"/>
                <a:ea typeface="Arial"/>
                <a:cs typeface="Arial"/>
              </a:defRPr>
            </a:lvl1pPr>
            <a:lvl2pPr>
              <a:defRPr sz="1275" b="0">
                <a:solidFill>
                  <a:srgbClr val="49636F"/>
                </a:solidFill>
                <a:latin typeface="Arial"/>
                <a:ea typeface="Arial"/>
                <a:cs typeface="Arial"/>
              </a:defRPr>
            </a:lvl2pPr>
            <a:lvl3pPr>
              <a:defRPr sz="1275" b="0">
                <a:solidFill>
                  <a:srgbClr val="49636F"/>
                </a:solidFill>
                <a:latin typeface="Arial"/>
                <a:ea typeface="Arial"/>
                <a:cs typeface="Arial"/>
              </a:defRPr>
            </a:lvl3pPr>
            <a:lvl4pPr>
              <a:defRPr sz="1275" b="0">
                <a:solidFill>
                  <a:srgbClr val="49636F"/>
                </a:solidFill>
                <a:latin typeface="Arial"/>
                <a:ea typeface="Arial"/>
                <a:cs typeface="Arial"/>
              </a:defRPr>
            </a:lvl4pPr>
            <a:lvl5pPr>
              <a:defRPr sz="1275" b="0">
                <a:solidFill>
                  <a:srgbClr val="49636F"/>
                </a:solidFill>
                <a:latin typeface="Arial"/>
                <a:ea typeface="Arial"/>
                <a:cs typeface="Arial"/>
              </a:defRPr>
            </a:lvl5pPr>
            <a:lvl6pPr>
              <a:defRPr sz="1275" b="0">
                <a:solidFill>
                  <a:srgbClr val="49636F"/>
                </a:solidFill>
                <a:latin typeface="Arial"/>
                <a:ea typeface="Arial"/>
                <a:cs typeface="Arial"/>
              </a:defRPr>
            </a:lvl6pPr>
            <a:lvl7pPr>
              <a:defRPr sz="1275" b="0">
                <a:solidFill>
                  <a:srgbClr val="49636F"/>
                </a:solidFill>
                <a:latin typeface="Arial"/>
                <a:ea typeface="Arial"/>
                <a:cs typeface="Arial"/>
              </a:defRPr>
            </a:lvl7pPr>
            <a:lvl8pPr>
              <a:defRPr sz="1275" b="0">
                <a:solidFill>
                  <a:srgbClr val="49636F"/>
                </a:solidFill>
                <a:latin typeface="Arial"/>
                <a:ea typeface="Arial"/>
                <a:cs typeface="Arial"/>
              </a:defRPr>
            </a:lvl8pPr>
            <a:lvl9pPr>
              <a:defRPr sz="1275" b="0">
                <a:solidFill>
                  <a:srgbClr val="49636F"/>
                </a:solidFill>
                <a:latin typeface="Arial"/>
                <a:ea typeface="Arial"/>
                <a:cs typeface="Arial"/>
              </a:defRPr>
            </a:lvl9pPr>
          </a:lstStyle>
          <a:p xmlns:a="http://schemas.openxmlformats.org/drawingml/2006/main">
            <a:pPr>
              <a:defRPr sz="1275" b="0">
                <a:solidFill>
                  <a:srgbClr val="49636F"/>
                </a:solidFill>
                <a:latin typeface="Arial"/>
                <a:ea typeface="Arial"/>
                <a:cs typeface="Arial"/>
              </a:defRPr>
            </a:pPr>
            <a:r>
              <a:rPr sz="1275" b="0">
                <a:solidFill>
                  <a:srgbClr val="49636F"/>
                </a:solidFill>
                <a:latin typeface="Arial"/>
                <a:ea typeface="Arial"/>
                <a:cs typeface="Arial"/>
              </a:rPr>
              <a:t>2</a:t>
            </a:r>
          </a:p>
        </p:txBody>
      </p:sp>
    </p:spTree>
    <p:extLst>
      <p:ext uri="{BB962C8B-B14F-4D97-AF65-F5344CB8AC3E}">
        <p14:creationId xmlns:p14="http://schemas.microsoft.com/office/powerpoint/2010/main" val="440834990"/>
      </p:ext>
    </p:extLst>
  </p:cSld>
</p:sld>
</file>

<file path=ppt/slides/slide3.xml><?xml version="1.0" encoding="utf-8"?>
<p:sld xmlns:p="http://schemas.openxmlformats.org/presentationml/2006/main">
  <p:cSld>
    <p:bg>
      <p:bgPr>
        <a:solidFill xmlns:a="http://schemas.openxmlformats.org/drawingml/2006/main">
          <a:srgbClr val="172F3B"/>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DDEBBE6-01F7-4B35-9624-3E72B378D848}"/>
              </a:ext>
            </a:extLst>
          </p:cNvPr>
          <p:cNvSpPr>
            <a:spLocks xmlns:a="http://schemas.openxmlformats.org/drawingml/2006/main" noGrp="1"/>
          </p:cNvSpPr>
          <p:nvPr/>
        </p:nvSpPr>
        <p:spPr>
          <a:xfrm xmlns:a="http://schemas.openxmlformats.org/drawingml/2006/main">
            <a:off x="609600" y="590550"/>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B stays cheaper with less than</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$220 in extra costs.</a:t>
            </a:r>
          </a:p>
        </p:txBody>
      </p:sp>
      <p:sp>
        <p:nvSpPr>
          <p:cNvPr id="2" name="explanation">
            <a:extLst xmlns:a="http://schemas.openxmlformats.org/drawingml/2006/main">
              <a:ext uri="{FF2B5EF4-FFF2-40B4-BE49-F238E27FC236}">
                <a16:creationId xmlns:a16="http://schemas.microsoft.com/office/drawing/2014/main" id="{8D3C7013-8631-4324-A5D5-F936781F3E54}"/>
              </a:ext>
            </a:extLst>
          </p:cNvPr>
          <p:cNvSpPr>
            <a:spLocks xmlns:a="http://schemas.openxmlformats.org/drawingml/2006/main" noGrp="1"/>
          </p:cNvSpPr>
          <p:nvPr/>
        </p:nvSpPr>
        <p:spPr>
          <a:xfrm xmlns:a="http://schemas.openxmlformats.org/drawingml/2006/main">
            <a:off x="647700" y="22955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DE6E8"/>
                </a:solidFill>
                <a:latin typeface="Arial"/>
                <a:ea typeface="Arial"/>
                <a:cs typeface="Arial"/>
              </a:defRPr>
            </a:defPPr>
            <a:lvl1pPr>
              <a:defRPr sz="2100" b="0">
                <a:solidFill>
                  <a:srgbClr val="DDE6E8"/>
                </a:solidFill>
                <a:latin typeface="Arial"/>
                <a:ea typeface="Arial"/>
                <a:cs typeface="Arial"/>
              </a:defRPr>
            </a:lvl1pPr>
            <a:lvl2pPr>
              <a:defRPr sz="2100" b="0">
                <a:solidFill>
                  <a:srgbClr val="DDE6E8"/>
                </a:solidFill>
                <a:latin typeface="Arial"/>
                <a:ea typeface="Arial"/>
                <a:cs typeface="Arial"/>
              </a:defRPr>
            </a:lvl2pPr>
            <a:lvl3pPr>
              <a:defRPr sz="2100" b="0">
                <a:solidFill>
                  <a:srgbClr val="DDE6E8"/>
                </a:solidFill>
                <a:latin typeface="Arial"/>
                <a:ea typeface="Arial"/>
                <a:cs typeface="Arial"/>
              </a:defRPr>
            </a:lvl3pPr>
            <a:lvl4pPr>
              <a:defRPr sz="2100" b="0">
                <a:solidFill>
                  <a:srgbClr val="DDE6E8"/>
                </a:solidFill>
                <a:latin typeface="Arial"/>
                <a:ea typeface="Arial"/>
                <a:cs typeface="Arial"/>
              </a:defRPr>
            </a:lvl4pPr>
            <a:lvl5pPr>
              <a:defRPr sz="2100" b="0">
                <a:solidFill>
                  <a:srgbClr val="DDE6E8"/>
                </a:solidFill>
                <a:latin typeface="Arial"/>
                <a:ea typeface="Arial"/>
                <a:cs typeface="Arial"/>
              </a:defRPr>
            </a:lvl5pPr>
            <a:lvl6pPr>
              <a:defRPr sz="2100" b="0">
                <a:solidFill>
                  <a:srgbClr val="DDE6E8"/>
                </a:solidFill>
                <a:latin typeface="Arial"/>
                <a:ea typeface="Arial"/>
                <a:cs typeface="Arial"/>
              </a:defRPr>
            </a:lvl6pPr>
            <a:lvl7pPr>
              <a:defRPr sz="2100" b="0">
                <a:solidFill>
                  <a:srgbClr val="DDE6E8"/>
                </a:solidFill>
                <a:latin typeface="Arial"/>
                <a:ea typeface="Arial"/>
                <a:cs typeface="Arial"/>
              </a:defRPr>
            </a:lvl7pPr>
            <a:lvl8pPr>
              <a:defRPr sz="2100" b="0">
                <a:solidFill>
                  <a:srgbClr val="DDE6E8"/>
                </a:solidFill>
                <a:latin typeface="Arial"/>
                <a:ea typeface="Arial"/>
                <a:cs typeface="Arial"/>
              </a:defRPr>
            </a:lvl8pPr>
            <a:lvl9pPr>
              <a:defRPr sz="2100" b="0">
                <a:solidFill>
                  <a:srgbClr val="DDE6E8"/>
                </a:solidFill>
                <a:latin typeface="Arial"/>
                <a:ea typeface="Arial"/>
                <a:cs typeface="Arial"/>
              </a:defRPr>
            </a:lvl9pPr>
          </a:lstStyle>
          <a:p xmlns:a="http://schemas.openxmlformats.org/drawingml/2006/main">
            <a:pPr>
              <a:defRPr sz="2100" b="0">
                <a:solidFill>
                  <a:srgbClr val="DDE6E8"/>
                </a:solidFill>
                <a:latin typeface="Arial"/>
                <a:ea typeface="Arial"/>
                <a:cs typeface="Arial"/>
              </a:defRPr>
            </a:pPr>
            <a:r>
              <a:rPr sz="2100" b="0">
                <a:solidFill>
                  <a:srgbClr val="DDE6E8"/>
                </a:solidFill>
                <a:latin typeface="Arial"/>
                <a:ea typeface="Arial"/>
                <a:cs typeface="Arial"/>
              </a:rPr>
              <a:t>At $220 of extra freight, duty or rework cost, the options tie.</a:t>
            </a:r>
          </a:p>
          <a:p xmlns:a="http://schemas.openxmlformats.org/drawingml/2006/main">
            <a:pPr>
              <a:defRPr sz="2100" b="0">
                <a:solidFill>
                  <a:srgbClr val="DDE6E8"/>
                </a:solidFill>
                <a:latin typeface="Arial"/>
                <a:ea typeface="Arial"/>
                <a:cs typeface="Arial"/>
              </a:defRPr>
            </a:pPr>
            <a:r>
              <a:rPr sz="2100" b="0">
                <a:solidFill>
                  <a:srgbClr val="DDE6E8"/>
                </a:solidFill>
                <a:latin typeface="Arial"/>
                <a:ea typeface="Arial"/>
                <a:cs typeface="Arial"/>
              </a:rPr>
              <a:t>Above that amount, B loses its cost advantage.</a:t>
            </a:r>
          </a:p>
        </p:txBody>
      </p:sp>
      <p:sp>
        <p:nvSpPr>
          <p:cNvPr id="3" name="decisionlabel">
            <a:extLst xmlns:a="http://schemas.openxmlformats.org/drawingml/2006/main">
              <a:ext uri="{FF2B5EF4-FFF2-40B4-BE49-F238E27FC236}">
                <a16:creationId xmlns:a16="http://schemas.microsoft.com/office/drawing/2014/main" id="{7256C8AF-D509-4B06-A09F-F16DED7FCDDF}"/>
              </a:ext>
            </a:extLst>
          </p:cNvPr>
          <p:cNvSpPr>
            <a:spLocks xmlns:a="http://schemas.openxmlformats.org/drawingml/2006/main" noGrp="1"/>
          </p:cNvSpPr>
          <p:nvPr/>
        </p:nvSpPr>
        <p:spPr>
          <a:xfrm xmlns:a="http://schemas.openxmlformats.org/drawingml/2006/main">
            <a:off x="647700" y="3790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DDE6E8"/>
                </a:solidFill>
                <a:latin typeface="Arial"/>
                <a:ea typeface="Arial"/>
                <a:cs typeface="Arial"/>
              </a:defRPr>
            </a:defPPr>
            <a:lvl1pPr>
              <a:defRPr sz="1575" b="1">
                <a:solidFill>
                  <a:srgbClr val="DDE6E8"/>
                </a:solidFill>
                <a:latin typeface="Arial"/>
                <a:ea typeface="Arial"/>
                <a:cs typeface="Arial"/>
              </a:defRPr>
            </a:lvl1pPr>
            <a:lvl2pPr>
              <a:defRPr sz="1575" b="1">
                <a:solidFill>
                  <a:srgbClr val="DDE6E8"/>
                </a:solidFill>
                <a:latin typeface="Arial"/>
                <a:ea typeface="Arial"/>
                <a:cs typeface="Arial"/>
              </a:defRPr>
            </a:lvl2pPr>
            <a:lvl3pPr>
              <a:defRPr sz="1575" b="1">
                <a:solidFill>
                  <a:srgbClr val="DDE6E8"/>
                </a:solidFill>
                <a:latin typeface="Arial"/>
                <a:ea typeface="Arial"/>
                <a:cs typeface="Arial"/>
              </a:defRPr>
            </a:lvl3pPr>
            <a:lvl4pPr>
              <a:defRPr sz="1575" b="1">
                <a:solidFill>
                  <a:srgbClr val="DDE6E8"/>
                </a:solidFill>
                <a:latin typeface="Arial"/>
                <a:ea typeface="Arial"/>
                <a:cs typeface="Arial"/>
              </a:defRPr>
            </a:lvl4pPr>
            <a:lvl5pPr>
              <a:defRPr sz="1575" b="1">
                <a:solidFill>
                  <a:srgbClr val="DDE6E8"/>
                </a:solidFill>
                <a:latin typeface="Arial"/>
                <a:ea typeface="Arial"/>
                <a:cs typeface="Arial"/>
              </a:defRPr>
            </a:lvl5pPr>
            <a:lvl6pPr>
              <a:defRPr sz="1575" b="1">
                <a:solidFill>
                  <a:srgbClr val="DDE6E8"/>
                </a:solidFill>
                <a:latin typeface="Arial"/>
                <a:ea typeface="Arial"/>
                <a:cs typeface="Arial"/>
              </a:defRPr>
            </a:lvl6pPr>
            <a:lvl7pPr>
              <a:defRPr sz="1575" b="1">
                <a:solidFill>
                  <a:srgbClr val="DDE6E8"/>
                </a:solidFill>
                <a:latin typeface="Arial"/>
                <a:ea typeface="Arial"/>
                <a:cs typeface="Arial"/>
              </a:defRPr>
            </a:lvl7pPr>
            <a:lvl8pPr>
              <a:defRPr sz="1575" b="1">
                <a:solidFill>
                  <a:srgbClr val="DDE6E8"/>
                </a:solidFill>
                <a:latin typeface="Arial"/>
                <a:ea typeface="Arial"/>
                <a:cs typeface="Arial"/>
              </a:defRPr>
            </a:lvl8pPr>
            <a:lvl9pPr>
              <a:defRPr sz="1575" b="1">
                <a:solidFill>
                  <a:srgbClr val="DDE6E8"/>
                </a:solidFill>
                <a:latin typeface="Arial"/>
                <a:ea typeface="Arial"/>
                <a:cs typeface="Arial"/>
              </a:defRPr>
            </a:lvl9pPr>
          </a:lstStyle>
          <a:p xmlns:a="http://schemas.openxmlformats.org/drawingml/2006/main">
            <a:pPr>
              <a:defRPr sz="1575" b="1">
                <a:solidFill>
                  <a:srgbClr val="DDE6E8"/>
                </a:solidFill>
                <a:latin typeface="Arial"/>
                <a:ea typeface="Arial"/>
                <a:cs typeface="Arial"/>
              </a:defRPr>
            </a:pPr>
            <a:r>
              <a:rPr sz="1575" b="1">
                <a:solidFill>
                  <a:srgbClr val="DDE6E8"/>
                </a:solidFill>
                <a:latin typeface="Arial"/>
                <a:ea typeface="Arial"/>
                <a:cs typeface="Arial"/>
              </a:rPr>
              <a:t>BEFORE COMMITTING</a:t>
            </a:r>
          </a:p>
        </p:txBody>
      </p:sp>
      <p:sp>
        <p:nvSpPr>
          <p:cNvPr id="4" name="checks">
            <a:extLst xmlns:a="http://schemas.openxmlformats.org/drawingml/2006/main">
              <a:ext uri="{FF2B5EF4-FFF2-40B4-BE49-F238E27FC236}">
                <a16:creationId xmlns:a16="http://schemas.microsoft.com/office/drawing/2014/main" id="{DE8D5A5C-FFD7-4920-B21B-55B9D27AA190}"/>
              </a:ext>
            </a:extLst>
          </p:cNvPr>
          <p:cNvSpPr>
            <a:spLocks xmlns:a="http://schemas.openxmlformats.org/drawingml/2006/main" noGrp="1"/>
          </p:cNvSpPr>
          <p:nvPr/>
        </p:nvSpPr>
        <p:spPr>
          <a:xfrm xmlns:a="http://schemas.openxmlformats.org/drawingml/2006/main">
            <a:off x="647700" y="43624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Confirm the freight basis and delivery deadline.</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Check the duty classification and inspection criteria.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Agree responsibility for rejected units in writing.</a:t>
            </a:r>
          </a:p>
        </p:txBody>
      </p:sp>
      <p:sp>
        <p:nvSpPr>
          <p:cNvPr id="5" name="disclosure">
            <a:extLst xmlns:a="http://schemas.openxmlformats.org/drawingml/2006/main">
              <a:ext uri="{FF2B5EF4-FFF2-40B4-BE49-F238E27FC236}">
                <a16:creationId xmlns:a16="http://schemas.microsoft.com/office/drawing/2014/main" id="{918277A7-89AE-4FC8-84A6-A361FA6C3F4F}"/>
              </a:ext>
            </a:extLst>
          </p:cNvPr>
          <p:cNvSpPr>
            <a:spLocks xmlns:a="http://schemas.openxmlformats.org/drawingml/2006/main" noGrp="1"/>
          </p:cNvSpPr>
          <p:nvPr/>
        </p:nvSpPr>
        <p:spPr>
          <a:xfrm xmlns:a="http://schemas.openxmlformats.org/drawingml/2006/main">
            <a:off x="609600" y="62865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DDE6E8"/>
                </a:solidFill>
                <a:latin typeface="Arial"/>
                <a:ea typeface="Arial"/>
                <a:cs typeface="Arial"/>
              </a:defRPr>
            </a:defPPr>
            <a:lvl1pPr>
              <a:defRPr sz="1275" b="0">
                <a:solidFill>
                  <a:srgbClr val="DDE6E8"/>
                </a:solidFill>
                <a:latin typeface="Arial"/>
                <a:ea typeface="Arial"/>
                <a:cs typeface="Arial"/>
              </a:defRPr>
            </a:lvl1pPr>
            <a:lvl2pPr>
              <a:defRPr sz="1275" b="0">
                <a:solidFill>
                  <a:srgbClr val="DDE6E8"/>
                </a:solidFill>
                <a:latin typeface="Arial"/>
                <a:ea typeface="Arial"/>
                <a:cs typeface="Arial"/>
              </a:defRPr>
            </a:lvl2pPr>
            <a:lvl3pPr>
              <a:defRPr sz="1275" b="0">
                <a:solidFill>
                  <a:srgbClr val="DDE6E8"/>
                </a:solidFill>
                <a:latin typeface="Arial"/>
                <a:ea typeface="Arial"/>
                <a:cs typeface="Arial"/>
              </a:defRPr>
            </a:lvl3pPr>
            <a:lvl4pPr>
              <a:defRPr sz="1275" b="0">
                <a:solidFill>
                  <a:srgbClr val="DDE6E8"/>
                </a:solidFill>
                <a:latin typeface="Arial"/>
                <a:ea typeface="Arial"/>
                <a:cs typeface="Arial"/>
              </a:defRPr>
            </a:lvl4pPr>
            <a:lvl5pPr>
              <a:defRPr sz="1275" b="0">
                <a:solidFill>
                  <a:srgbClr val="DDE6E8"/>
                </a:solidFill>
                <a:latin typeface="Arial"/>
                <a:ea typeface="Arial"/>
                <a:cs typeface="Arial"/>
              </a:defRPr>
            </a:lvl5pPr>
            <a:lvl6pPr>
              <a:defRPr sz="1275" b="0">
                <a:solidFill>
                  <a:srgbClr val="DDE6E8"/>
                </a:solidFill>
                <a:latin typeface="Arial"/>
                <a:ea typeface="Arial"/>
                <a:cs typeface="Arial"/>
              </a:defRPr>
            </a:lvl6pPr>
            <a:lvl7pPr>
              <a:defRPr sz="1275" b="0">
                <a:solidFill>
                  <a:srgbClr val="DDE6E8"/>
                </a:solidFill>
                <a:latin typeface="Arial"/>
                <a:ea typeface="Arial"/>
                <a:cs typeface="Arial"/>
              </a:defRPr>
            </a:lvl7pPr>
            <a:lvl8pPr>
              <a:defRPr sz="1275" b="0">
                <a:solidFill>
                  <a:srgbClr val="DDE6E8"/>
                </a:solidFill>
                <a:latin typeface="Arial"/>
                <a:ea typeface="Arial"/>
                <a:cs typeface="Arial"/>
              </a:defRPr>
            </a:lvl8pPr>
            <a:lvl9pPr>
              <a:defRPr sz="1275" b="0">
                <a:solidFill>
                  <a:srgbClr val="DDE6E8"/>
                </a:solidFill>
                <a:latin typeface="Arial"/>
                <a:ea typeface="Arial"/>
                <a:cs typeface="Arial"/>
              </a:defRPr>
            </a:lvl9pPr>
          </a:lstStyle>
          <a:p xmlns:a="http://schemas.openxmlformats.org/drawingml/2006/main">
            <a:pPr>
              <a:defRPr sz="1275" b="0">
                <a:solidFill>
                  <a:srgbClr val="DDE6E8"/>
                </a:solidFill>
                <a:latin typeface="Arial"/>
                <a:ea typeface="Arial"/>
                <a:cs typeface="Arial"/>
              </a:defRPr>
            </a:pPr>
            <a:r>
              <a:rPr sz="1275" b="0">
                <a:solidFill>
                  <a:srgbClr val="DDE6E8"/>
                </a:solidFill>
                <a:latin typeface="Arial"/>
                <a:ea typeface="Arial"/>
                <a:cs typeface="Arial"/>
              </a:rPr>
              <a:t>Hx Works  /  Self-initiated study  /  Fictional scenario and figures</a:t>
            </a:r>
          </a:p>
        </p:txBody>
      </p:sp>
      <p:sp>
        <p:nvSpPr>
          <p:cNvPr id="6" name="page">
            <a:extLst xmlns:a="http://schemas.openxmlformats.org/drawingml/2006/main">
              <a:ext uri="{FF2B5EF4-FFF2-40B4-BE49-F238E27FC236}">
                <a16:creationId xmlns:a16="http://schemas.microsoft.com/office/drawing/2014/main" id="{DD00D0B1-2825-4663-A9BE-93D8861C2417}"/>
              </a:ext>
            </a:extLst>
          </p:cNvPr>
          <p:cNvSpPr>
            <a:spLocks xmlns:a="http://schemas.openxmlformats.org/drawingml/2006/main" noGrp="1"/>
          </p:cNvSpPr>
          <p:nvPr/>
        </p:nvSpPr>
        <p:spPr>
          <a:xfrm xmlns:a="http://schemas.openxmlformats.org/drawingml/2006/main">
            <a:off x="11239500" y="6286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DDE6E8"/>
                </a:solidFill>
                <a:latin typeface="Arial"/>
                <a:ea typeface="Arial"/>
                <a:cs typeface="Arial"/>
              </a:defRPr>
            </a:defPPr>
            <a:lvl1pPr>
              <a:defRPr sz="1275" b="0">
                <a:solidFill>
                  <a:srgbClr val="DDE6E8"/>
                </a:solidFill>
                <a:latin typeface="Arial"/>
                <a:ea typeface="Arial"/>
                <a:cs typeface="Arial"/>
              </a:defRPr>
            </a:lvl1pPr>
            <a:lvl2pPr>
              <a:defRPr sz="1275" b="0">
                <a:solidFill>
                  <a:srgbClr val="DDE6E8"/>
                </a:solidFill>
                <a:latin typeface="Arial"/>
                <a:ea typeface="Arial"/>
                <a:cs typeface="Arial"/>
              </a:defRPr>
            </a:lvl2pPr>
            <a:lvl3pPr>
              <a:defRPr sz="1275" b="0">
                <a:solidFill>
                  <a:srgbClr val="DDE6E8"/>
                </a:solidFill>
                <a:latin typeface="Arial"/>
                <a:ea typeface="Arial"/>
                <a:cs typeface="Arial"/>
              </a:defRPr>
            </a:lvl3pPr>
            <a:lvl4pPr>
              <a:defRPr sz="1275" b="0">
                <a:solidFill>
                  <a:srgbClr val="DDE6E8"/>
                </a:solidFill>
                <a:latin typeface="Arial"/>
                <a:ea typeface="Arial"/>
                <a:cs typeface="Arial"/>
              </a:defRPr>
            </a:lvl4pPr>
            <a:lvl5pPr>
              <a:defRPr sz="1275" b="0">
                <a:solidFill>
                  <a:srgbClr val="DDE6E8"/>
                </a:solidFill>
                <a:latin typeface="Arial"/>
                <a:ea typeface="Arial"/>
                <a:cs typeface="Arial"/>
              </a:defRPr>
            </a:lvl5pPr>
            <a:lvl6pPr>
              <a:defRPr sz="1275" b="0">
                <a:solidFill>
                  <a:srgbClr val="DDE6E8"/>
                </a:solidFill>
                <a:latin typeface="Arial"/>
                <a:ea typeface="Arial"/>
                <a:cs typeface="Arial"/>
              </a:defRPr>
            </a:lvl6pPr>
            <a:lvl7pPr>
              <a:defRPr sz="1275" b="0">
                <a:solidFill>
                  <a:srgbClr val="DDE6E8"/>
                </a:solidFill>
                <a:latin typeface="Arial"/>
                <a:ea typeface="Arial"/>
                <a:cs typeface="Arial"/>
              </a:defRPr>
            </a:lvl7pPr>
            <a:lvl8pPr>
              <a:defRPr sz="1275" b="0">
                <a:solidFill>
                  <a:srgbClr val="DDE6E8"/>
                </a:solidFill>
                <a:latin typeface="Arial"/>
                <a:ea typeface="Arial"/>
                <a:cs typeface="Arial"/>
              </a:defRPr>
            </a:lvl8pPr>
            <a:lvl9pPr>
              <a:defRPr sz="1275" b="0">
                <a:solidFill>
                  <a:srgbClr val="DDE6E8"/>
                </a:solidFill>
                <a:latin typeface="Arial"/>
                <a:ea typeface="Arial"/>
                <a:cs typeface="Arial"/>
              </a:defRPr>
            </a:lvl9pPr>
          </a:lstStyle>
          <a:p xmlns:a="http://schemas.openxmlformats.org/drawingml/2006/main">
            <a:pPr>
              <a:defRPr sz="1275" b="0">
                <a:solidFill>
                  <a:srgbClr val="DDE6E8"/>
                </a:solidFill>
                <a:latin typeface="Arial"/>
                <a:ea typeface="Arial"/>
                <a:cs typeface="Arial"/>
              </a:defRPr>
            </a:pPr>
            <a:r>
              <a:rPr sz="1275" b="0">
                <a:solidFill>
                  <a:srgbClr val="DDE6E8"/>
                </a:solidFill>
                <a:latin typeface="Arial"/>
                <a:ea typeface="Arial"/>
                <a:cs typeface="Arial"/>
              </a:rPr>
              <a:t>3</a:t>
            </a:r>
          </a:p>
        </p:txBody>
      </p:sp>
    </p:spTree>
    <p:extLst>
      <p:ext uri="{BB962C8B-B14F-4D97-AF65-F5344CB8AC3E}">
        <p14:creationId xmlns:p14="http://schemas.microsoft.com/office/powerpoint/2010/main" val="628809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2026-10-18T23:03:21.3250000Z</dcterms:created>
  <dcterms:modified xsi:type="dcterms:W3CDTF">2026-10-18T23:03:21.3250000Z</dcterms:modified>
</coreProperties>
</file>